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/>
</file>

<file path=ppt/tableStyles.xml><?xml version="1.0" encoding="utf-8"?>
<a:tblStyleLst xmlns:a="http://schemas.openxmlformats.org/drawingml/2006/main" xmlns:r="http://schemas.openxmlformats.org/officeDocument/2006/relationships" def="{2DF012CE-5F57-41F2-843E-A3DA5A3B7A30}">
  <a:tblStyle styleId="{2DF012CE-5F57-41F2-843E-A3DA5A3B7A30}" styleName="Table_0">
    <a:wholeTbl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med" w="med" type="none"/>
              <a:tailEnd len="med" w="med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med" w="med" type="none"/>
              <a:tailEnd len="med" w="med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med" w="med" type="none"/>
              <a:tailEnd len="med" w="med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med" w="med" type="none"/>
              <a:tailEnd len="med" w="med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med" w="med" type="none"/>
              <a:tailEnd len="med" w="med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med" w="med" type="none"/>
              <a:tailEnd len="med" w="med" type="none"/>
            </a:ln>
          </a:insideV>
        </a:tcBdr>
      </a:tcStyle>
    </a:wholeTb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" name="Shape 4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Shape 52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Shape 65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Shape 71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76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Shape 77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Shape 84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Shape 90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118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Shape 119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144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Shape 145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Shape 171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176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Shape 177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182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Shape 183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Shape 188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Shape 189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194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Shape 195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Shape 201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hape 206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Shape 207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212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Shape 213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Shape 218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Shape 219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">
  <p:cSld name="Title slid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/>
          <p:nvPr>
            <p:ph type="ctrTitle"/>
          </p:nvPr>
        </p:nvSpPr>
        <p:spPr>
          <a:xfrm>
            <a:off x="311708" y="744575"/>
            <a:ext cx="8520599" cy="2052599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 lvl="0" algn="ctr">
              <a:spcBef>
                <a:spcPts val="0"/>
              </a:spcBef>
              <a:buSzPct val="100000"/>
              <a:defRPr sz="5200"/>
            </a:lvl1pPr>
            <a:lvl2pPr lvl="1" algn="ctr">
              <a:spcBef>
                <a:spcPts val="0"/>
              </a:spcBef>
              <a:buSzPct val="100000"/>
              <a:defRPr sz="5200"/>
            </a:lvl2pPr>
            <a:lvl3pPr lvl="2" algn="ctr">
              <a:spcBef>
                <a:spcPts val="0"/>
              </a:spcBef>
              <a:buSzPct val="100000"/>
              <a:defRPr sz="5200"/>
            </a:lvl3pPr>
            <a:lvl4pPr lvl="3" algn="ctr">
              <a:spcBef>
                <a:spcPts val="0"/>
              </a:spcBef>
              <a:buSzPct val="100000"/>
              <a:defRPr sz="5200"/>
            </a:lvl4pPr>
            <a:lvl5pPr lvl="4" algn="ctr">
              <a:spcBef>
                <a:spcPts val="0"/>
              </a:spcBef>
              <a:buSzPct val="100000"/>
              <a:defRPr sz="5200"/>
            </a:lvl5pPr>
            <a:lvl6pPr lvl="5" algn="ctr">
              <a:spcBef>
                <a:spcPts val="0"/>
              </a:spcBef>
              <a:buSzPct val="100000"/>
              <a:defRPr sz="5200"/>
            </a:lvl6pPr>
            <a:lvl7pPr lvl="6" algn="ctr">
              <a:spcBef>
                <a:spcPts val="0"/>
              </a:spcBef>
              <a:buSzPct val="100000"/>
              <a:defRPr sz="5200"/>
            </a:lvl7pPr>
            <a:lvl8pPr lvl="7" algn="ctr">
              <a:spcBef>
                <a:spcPts val="0"/>
              </a:spcBef>
              <a:buSzPct val="100000"/>
              <a:defRPr sz="5200"/>
            </a:lvl8pPr>
            <a:lvl9pPr lvl="8" algn="ctr">
              <a:spcBef>
                <a:spcPts val="0"/>
              </a:spcBef>
              <a:buSzPct val="100000"/>
              <a:defRPr sz="5200"/>
            </a:lvl9pPr>
          </a:lstStyle>
          <a:p/>
        </p:txBody>
      </p:sp>
      <p:sp>
        <p:nvSpPr>
          <p:cNvPr id="11" name="Shape 11"/>
          <p:cNvSpPr txBox="1"/>
          <p:nvPr>
            <p:ph idx="1" type="subTitle"/>
          </p:nvPr>
        </p:nvSpPr>
        <p:spPr>
          <a:xfrm>
            <a:off x="311700" y="2834125"/>
            <a:ext cx="8520599" cy="7926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9pPr>
          </a:lstStyle>
          <a:p/>
        </p:txBody>
      </p:sp>
      <p:sp>
        <p:nvSpPr>
          <p:cNvPr id="12" name="Shape 12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zh-CN"/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secHead">
  <p:cSld name="Section 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/>
          <p:nvPr>
            <p:ph type="title"/>
          </p:nvPr>
        </p:nvSpPr>
        <p:spPr>
          <a:xfrm>
            <a:off x="311700" y="2150850"/>
            <a:ext cx="8520599" cy="841800"/>
          </a:xfrm>
          <a:prstGeom prst="rect">
            <a:avLst/>
          </a:prstGeom>
        </p:spPr>
        <p:txBody>
          <a:bodyPr anchorCtr="0" anchor="ctr" bIns="91425" lIns="91425" rIns="91425" tIns="91425"/>
          <a:lstStyle>
            <a:lvl1pPr lvl="0" algn="ctr">
              <a:spcBef>
                <a:spcPts val="0"/>
              </a:spcBef>
              <a:buSzPct val="100000"/>
              <a:defRPr sz="3600"/>
            </a:lvl1pPr>
            <a:lvl2pPr lvl="1" algn="ctr">
              <a:spcBef>
                <a:spcPts val="0"/>
              </a:spcBef>
              <a:buSzPct val="100000"/>
              <a:defRPr sz="3600"/>
            </a:lvl2pPr>
            <a:lvl3pPr lvl="2" algn="ctr">
              <a:spcBef>
                <a:spcPts val="0"/>
              </a:spcBef>
              <a:buSzPct val="100000"/>
              <a:defRPr sz="3600"/>
            </a:lvl3pPr>
            <a:lvl4pPr lvl="3" algn="ctr">
              <a:spcBef>
                <a:spcPts val="0"/>
              </a:spcBef>
              <a:buSzPct val="100000"/>
              <a:defRPr sz="3600"/>
            </a:lvl4pPr>
            <a:lvl5pPr lvl="4" algn="ctr">
              <a:spcBef>
                <a:spcPts val="0"/>
              </a:spcBef>
              <a:buSzPct val="100000"/>
              <a:defRPr sz="3600"/>
            </a:lvl5pPr>
            <a:lvl6pPr lvl="5" algn="ctr">
              <a:spcBef>
                <a:spcPts val="0"/>
              </a:spcBef>
              <a:buSzPct val="100000"/>
              <a:defRPr sz="3600"/>
            </a:lvl6pPr>
            <a:lvl7pPr lvl="6" algn="ctr">
              <a:spcBef>
                <a:spcPts val="0"/>
              </a:spcBef>
              <a:buSzPct val="100000"/>
              <a:defRPr sz="3600"/>
            </a:lvl7pPr>
            <a:lvl8pPr lvl="7" algn="ctr">
              <a:spcBef>
                <a:spcPts val="0"/>
              </a:spcBef>
              <a:buSzPct val="100000"/>
              <a:defRPr sz="3600"/>
            </a:lvl8pPr>
            <a:lvl9pPr lvl="8" algn="ctr">
              <a:spcBef>
                <a:spcPts val="0"/>
              </a:spcBef>
              <a:buSzPct val="100000"/>
              <a:defRPr sz="3600"/>
            </a:lvl9pPr>
          </a:lstStyle>
          <a:p/>
        </p:txBody>
      </p:sp>
      <p:sp>
        <p:nvSpPr>
          <p:cNvPr id="15" name="Shape 15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zh-CN"/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x">
  <p:cSld name="Title and 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18" name="Shape 18"/>
          <p:cNvSpPr txBox="1"/>
          <p:nvPr>
            <p:ph idx="1" type="body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19" name="Shape 19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zh-CN"/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woColTx">
  <p:cSld name="Title and two 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22" name="Shape 22"/>
          <p:cNvSpPr txBox="1"/>
          <p:nvPr>
            <p:ph idx="1" type="body"/>
          </p:nvPr>
        </p:nvSpPr>
        <p:spPr>
          <a:xfrm>
            <a:off x="311700" y="1152475"/>
            <a:ext cx="3999899" cy="34164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buSzPct val="100000"/>
              <a:defRPr sz="14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/>
        </p:txBody>
      </p:sp>
      <p:sp>
        <p:nvSpPr>
          <p:cNvPr id="23" name="Shape 23"/>
          <p:cNvSpPr txBox="1"/>
          <p:nvPr>
            <p:ph idx="2" type="body"/>
          </p:nvPr>
        </p:nvSpPr>
        <p:spPr>
          <a:xfrm>
            <a:off x="4832400" y="1152475"/>
            <a:ext cx="3999899" cy="34164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buSzPct val="100000"/>
              <a:defRPr sz="14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/>
        </p:txBody>
      </p:sp>
      <p:sp>
        <p:nvSpPr>
          <p:cNvPr id="24" name="Shape 24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zh-CN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Only">
  <p:cSld name="Title 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27" name="Shape 27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zh-CN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One column 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/>
          <p:nvPr>
            <p:ph type="title"/>
          </p:nvPr>
        </p:nvSpPr>
        <p:spPr>
          <a:xfrm>
            <a:off x="311700" y="555600"/>
            <a:ext cx="2807999" cy="755699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 lvl="0">
              <a:spcBef>
                <a:spcPts val="0"/>
              </a:spcBef>
              <a:buSzPct val="100000"/>
              <a:defRPr sz="2400"/>
            </a:lvl1pPr>
            <a:lvl2pPr lvl="1">
              <a:spcBef>
                <a:spcPts val="0"/>
              </a:spcBef>
              <a:buSzPct val="100000"/>
              <a:defRPr sz="2400"/>
            </a:lvl2pPr>
            <a:lvl3pPr lvl="2">
              <a:spcBef>
                <a:spcPts val="0"/>
              </a:spcBef>
              <a:buSzPct val="100000"/>
              <a:defRPr sz="2400"/>
            </a:lvl3pPr>
            <a:lvl4pPr lvl="3">
              <a:spcBef>
                <a:spcPts val="0"/>
              </a:spcBef>
              <a:buSzPct val="100000"/>
              <a:defRPr sz="2400"/>
            </a:lvl4pPr>
            <a:lvl5pPr lvl="4">
              <a:spcBef>
                <a:spcPts val="0"/>
              </a:spcBef>
              <a:buSzPct val="100000"/>
              <a:defRPr sz="2400"/>
            </a:lvl5pPr>
            <a:lvl6pPr lvl="5">
              <a:spcBef>
                <a:spcPts val="0"/>
              </a:spcBef>
              <a:buSzPct val="100000"/>
              <a:defRPr sz="2400"/>
            </a:lvl6pPr>
            <a:lvl7pPr lvl="6">
              <a:spcBef>
                <a:spcPts val="0"/>
              </a:spcBef>
              <a:buSzPct val="100000"/>
              <a:defRPr sz="2400"/>
            </a:lvl7pPr>
            <a:lvl8pPr lvl="7">
              <a:spcBef>
                <a:spcPts val="0"/>
              </a:spcBef>
              <a:buSzPct val="100000"/>
              <a:defRPr sz="2400"/>
            </a:lvl8pPr>
            <a:lvl9pPr lvl="8">
              <a:spcBef>
                <a:spcPts val="0"/>
              </a:spcBef>
              <a:buSzPct val="100000"/>
              <a:defRPr sz="2400"/>
            </a:lvl9pPr>
          </a:lstStyle>
          <a:p/>
        </p:txBody>
      </p:sp>
      <p:sp>
        <p:nvSpPr>
          <p:cNvPr id="30" name="Shape 30"/>
          <p:cNvSpPr txBox="1"/>
          <p:nvPr>
            <p:ph idx="1" type="body"/>
          </p:nvPr>
        </p:nvSpPr>
        <p:spPr>
          <a:xfrm>
            <a:off x="311700" y="1389600"/>
            <a:ext cx="2807999" cy="31794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buSzPct val="100000"/>
              <a:defRPr sz="12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/>
        </p:txBody>
      </p:sp>
      <p:sp>
        <p:nvSpPr>
          <p:cNvPr id="31" name="Shape 31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zh-CN"/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Main 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rIns="91425" tIns="91425"/>
          <a:lstStyle>
            <a:lvl1pPr lvl="0">
              <a:spcBef>
                <a:spcPts val="0"/>
              </a:spcBef>
              <a:buSzPct val="100000"/>
              <a:defRPr sz="4800"/>
            </a:lvl1pPr>
            <a:lvl2pPr lvl="1">
              <a:spcBef>
                <a:spcPts val="0"/>
              </a:spcBef>
              <a:buSzPct val="100000"/>
              <a:defRPr sz="4800"/>
            </a:lvl2pPr>
            <a:lvl3pPr lvl="2">
              <a:spcBef>
                <a:spcPts val="0"/>
              </a:spcBef>
              <a:buSzPct val="100000"/>
              <a:defRPr sz="4800"/>
            </a:lvl3pPr>
            <a:lvl4pPr lvl="3">
              <a:spcBef>
                <a:spcPts val="0"/>
              </a:spcBef>
              <a:buSzPct val="100000"/>
              <a:defRPr sz="4800"/>
            </a:lvl4pPr>
            <a:lvl5pPr lvl="4">
              <a:spcBef>
                <a:spcPts val="0"/>
              </a:spcBef>
              <a:buSzPct val="100000"/>
              <a:defRPr sz="4800"/>
            </a:lvl5pPr>
            <a:lvl6pPr lvl="5">
              <a:spcBef>
                <a:spcPts val="0"/>
              </a:spcBef>
              <a:buSzPct val="100000"/>
              <a:defRPr sz="4800"/>
            </a:lvl6pPr>
            <a:lvl7pPr lvl="6">
              <a:spcBef>
                <a:spcPts val="0"/>
              </a:spcBef>
              <a:buSzPct val="100000"/>
              <a:defRPr sz="4800"/>
            </a:lvl7pPr>
            <a:lvl8pPr lvl="7">
              <a:spcBef>
                <a:spcPts val="0"/>
              </a:spcBef>
              <a:buSzPct val="100000"/>
              <a:defRPr sz="4800"/>
            </a:lvl8pPr>
            <a:lvl9pPr lvl="8">
              <a:spcBef>
                <a:spcPts val="0"/>
              </a:spcBef>
              <a:buSzPct val="100000"/>
              <a:defRPr sz="4800"/>
            </a:lvl9pPr>
          </a:lstStyle>
          <a:p/>
        </p:txBody>
      </p:sp>
      <p:sp>
        <p:nvSpPr>
          <p:cNvPr id="34" name="Shape 34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zh-CN"/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Section title and 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4572000" y="-125"/>
            <a:ext cx="4572000" cy="514349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7" name="Shape 37"/>
          <p:cNvSpPr txBox="1"/>
          <p:nvPr>
            <p:ph type="title"/>
          </p:nvPr>
        </p:nvSpPr>
        <p:spPr>
          <a:xfrm>
            <a:off x="265500" y="1233175"/>
            <a:ext cx="4045199" cy="1482300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 lvl="0" algn="ctr">
              <a:spcBef>
                <a:spcPts val="0"/>
              </a:spcBef>
              <a:buSzPct val="100000"/>
              <a:defRPr sz="4200"/>
            </a:lvl1pPr>
            <a:lvl2pPr lvl="1" algn="ctr">
              <a:spcBef>
                <a:spcPts val="0"/>
              </a:spcBef>
              <a:buSzPct val="100000"/>
              <a:defRPr sz="4200"/>
            </a:lvl2pPr>
            <a:lvl3pPr lvl="2" algn="ctr">
              <a:spcBef>
                <a:spcPts val="0"/>
              </a:spcBef>
              <a:buSzPct val="100000"/>
              <a:defRPr sz="4200"/>
            </a:lvl3pPr>
            <a:lvl4pPr lvl="3" algn="ctr">
              <a:spcBef>
                <a:spcPts val="0"/>
              </a:spcBef>
              <a:buSzPct val="100000"/>
              <a:defRPr sz="4200"/>
            </a:lvl4pPr>
            <a:lvl5pPr lvl="4" algn="ctr">
              <a:spcBef>
                <a:spcPts val="0"/>
              </a:spcBef>
              <a:buSzPct val="100000"/>
              <a:defRPr sz="4200"/>
            </a:lvl5pPr>
            <a:lvl6pPr lvl="5" algn="ctr">
              <a:spcBef>
                <a:spcPts val="0"/>
              </a:spcBef>
              <a:buSzPct val="100000"/>
              <a:defRPr sz="4200"/>
            </a:lvl6pPr>
            <a:lvl7pPr lvl="6" algn="ctr">
              <a:spcBef>
                <a:spcPts val="0"/>
              </a:spcBef>
              <a:buSzPct val="100000"/>
              <a:defRPr sz="4200"/>
            </a:lvl7pPr>
            <a:lvl8pPr lvl="7" algn="ctr">
              <a:spcBef>
                <a:spcPts val="0"/>
              </a:spcBef>
              <a:buSzPct val="100000"/>
              <a:defRPr sz="4200"/>
            </a:lvl8pPr>
            <a:lvl9pPr lvl="8" algn="ctr">
              <a:spcBef>
                <a:spcPts val="0"/>
              </a:spcBef>
              <a:buSzPct val="100000"/>
              <a:defRPr sz="4200"/>
            </a:lvl9pPr>
          </a:lstStyle>
          <a:p/>
        </p:txBody>
      </p:sp>
      <p:sp>
        <p:nvSpPr>
          <p:cNvPr id="38" name="Shape 38"/>
          <p:cNvSpPr txBox="1"/>
          <p:nvPr>
            <p:ph idx="1" type="subTitle"/>
          </p:nvPr>
        </p:nvSpPr>
        <p:spPr>
          <a:xfrm>
            <a:off x="265500" y="2803075"/>
            <a:ext cx="4045199" cy="12351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9pPr>
          </a:lstStyle>
          <a:p/>
        </p:txBody>
      </p:sp>
      <p:sp>
        <p:nvSpPr>
          <p:cNvPr id="39" name="Shape 39"/>
          <p:cNvSpPr txBox="1"/>
          <p:nvPr>
            <p:ph idx="2" type="body"/>
          </p:nvPr>
        </p:nvSpPr>
        <p:spPr>
          <a:xfrm>
            <a:off x="4939500" y="724075"/>
            <a:ext cx="3837000" cy="3695099"/>
          </a:xfrm>
          <a:prstGeom prst="rect">
            <a:avLst/>
          </a:prstGeom>
        </p:spPr>
        <p:txBody>
          <a:bodyPr anchorCtr="0" anchor="ctr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40" name="Shape 40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zh-CN"/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Ca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rIns="91425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</a:lstStyle>
          <a:p/>
        </p:txBody>
      </p:sp>
      <p:sp>
        <p:nvSpPr>
          <p:cNvPr id="43" name="Shape 43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zh-CN"/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Big 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 txBox="1"/>
          <p:nvPr>
            <p:ph type="title"/>
          </p:nvPr>
        </p:nvSpPr>
        <p:spPr>
          <a:xfrm>
            <a:off x="311700" y="1106125"/>
            <a:ext cx="8520599" cy="1963500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 lvl="0" algn="ctr">
              <a:spcBef>
                <a:spcPts val="0"/>
              </a:spcBef>
              <a:buSzPct val="100000"/>
              <a:defRPr sz="12000"/>
            </a:lvl1pPr>
            <a:lvl2pPr lvl="1" algn="ctr">
              <a:spcBef>
                <a:spcPts val="0"/>
              </a:spcBef>
              <a:buSzPct val="100000"/>
              <a:defRPr sz="12000"/>
            </a:lvl2pPr>
            <a:lvl3pPr lvl="2" algn="ctr">
              <a:spcBef>
                <a:spcPts val="0"/>
              </a:spcBef>
              <a:buSzPct val="100000"/>
              <a:defRPr sz="12000"/>
            </a:lvl3pPr>
            <a:lvl4pPr lvl="3" algn="ctr">
              <a:spcBef>
                <a:spcPts val="0"/>
              </a:spcBef>
              <a:buSzPct val="100000"/>
              <a:defRPr sz="12000"/>
            </a:lvl4pPr>
            <a:lvl5pPr lvl="4" algn="ctr">
              <a:spcBef>
                <a:spcPts val="0"/>
              </a:spcBef>
              <a:buSzPct val="100000"/>
              <a:defRPr sz="12000"/>
            </a:lvl5pPr>
            <a:lvl6pPr lvl="5" algn="ctr">
              <a:spcBef>
                <a:spcPts val="0"/>
              </a:spcBef>
              <a:buSzPct val="100000"/>
              <a:defRPr sz="12000"/>
            </a:lvl6pPr>
            <a:lvl7pPr lvl="6" algn="ctr">
              <a:spcBef>
                <a:spcPts val="0"/>
              </a:spcBef>
              <a:buSzPct val="100000"/>
              <a:defRPr sz="12000"/>
            </a:lvl7pPr>
            <a:lvl8pPr lvl="7" algn="ctr">
              <a:spcBef>
                <a:spcPts val="0"/>
              </a:spcBef>
              <a:buSzPct val="100000"/>
              <a:defRPr sz="12000"/>
            </a:lvl8pPr>
            <a:lvl9pPr lvl="8" algn="ctr">
              <a:spcBef>
                <a:spcPts val="0"/>
              </a:spcBef>
              <a:buSzPct val="100000"/>
              <a:defRPr sz="12000"/>
            </a:lvl9pPr>
          </a:lstStyle>
          <a:p/>
        </p:txBody>
      </p:sp>
      <p:sp>
        <p:nvSpPr>
          <p:cNvPr id="46" name="Shape 46"/>
          <p:cNvSpPr txBox="1"/>
          <p:nvPr>
            <p:ph idx="1" type="body"/>
          </p:nvPr>
        </p:nvSpPr>
        <p:spPr>
          <a:xfrm>
            <a:off x="311700" y="3152225"/>
            <a:ext cx="8520599" cy="13008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 algn="ctr">
              <a:spcBef>
                <a:spcPts val="0"/>
              </a:spcBef>
              <a:defRPr/>
            </a:lvl1pPr>
            <a:lvl2pPr lvl="1" algn="ctr">
              <a:spcBef>
                <a:spcPts val="0"/>
              </a:spcBef>
              <a:defRPr/>
            </a:lvl2pPr>
            <a:lvl3pPr lvl="2" algn="ctr">
              <a:spcBef>
                <a:spcPts val="0"/>
              </a:spcBef>
              <a:defRPr/>
            </a:lvl3pPr>
            <a:lvl4pPr lvl="3" algn="ctr">
              <a:spcBef>
                <a:spcPts val="0"/>
              </a:spcBef>
              <a:defRPr/>
            </a:lvl4pPr>
            <a:lvl5pPr lvl="4" algn="ctr">
              <a:spcBef>
                <a:spcPts val="0"/>
              </a:spcBef>
              <a:defRPr/>
            </a:lvl5pPr>
            <a:lvl6pPr lvl="5" algn="ctr">
              <a:spcBef>
                <a:spcPts val="0"/>
              </a:spcBef>
              <a:defRPr/>
            </a:lvl6pPr>
            <a:lvl7pPr lvl="6" algn="ctr">
              <a:spcBef>
                <a:spcPts val="0"/>
              </a:spcBef>
              <a:defRPr/>
            </a:lvl7pPr>
            <a:lvl8pPr lvl="7" algn="ctr">
              <a:spcBef>
                <a:spcPts val="0"/>
              </a:spcBef>
              <a:defRPr/>
            </a:lvl8pPr>
            <a:lvl9pPr lvl="8" algn="ctr">
              <a:spcBef>
                <a:spcPts val="0"/>
              </a:spcBef>
              <a:defRPr/>
            </a:lvl9pPr>
          </a:lstStyle>
          <a:p/>
        </p:txBody>
      </p:sp>
      <p:sp>
        <p:nvSpPr>
          <p:cNvPr id="47" name="Shape 47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zh-CN"/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zh-CN"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Shape 7"/>
          <p:cNvSpPr txBox="1"/>
          <p:nvPr>
            <p:ph idx="1" type="body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defRPr sz="18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Shape 8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 algn="r">
              <a:spcBef>
                <a:spcPts val="0"/>
              </a:spcBef>
              <a:buNone/>
            </a:pPr>
            <a:fld id="{00000000-1234-1234-1234-123412341234}" type="slidenum">
              <a:rPr lang="zh-CN" sz="1000">
                <a:solidFill>
                  <a:schemeClr val="dk2"/>
                </a:solidFill>
              </a:rPr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0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0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/>
          <p:nvPr>
            <p:ph type="ctrTitle"/>
          </p:nvPr>
        </p:nvSpPr>
        <p:spPr>
          <a:xfrm>
            <a:off x="311708" y="744575"/>
            <a:ext cx="8520599" cy="2052599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CN"/>
              <a:t>Anonymous Social-Tie Routing in Ad hoc Network</a:t>
            </a:r>
          </a:p>
        </p:txBody>
      </p:sp>
      <p:sp>
        <p:nvSpPr>
          <p:cNvPr id="55" name="Shape 55"/>
          <p:cNvSpPr txBox="1"/>
          <p:nvPr>
            <p:ph idx="1" type="subTitle"/>
          </p:nvPr>
        </p:nvSpPr>
        <p:spPr>
          <a:xfrm>
            <a:off x="311700" y="3135225"/>
            <a:ext cx="8520599" cy="1594499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CN"/>
              <a:t>Mentor: Noor Abani</a:t>
            </a:r>
          </a:p>
          <a:p>
            <a:pPr lvl="0" rtl="0" algn="l">
              <a:spcBef>
                <a:spcPts val="0"/>
              </a:spcBef>
              <a:buNone/>
            </a:pPr>
            <a:r>
              <a:t/>
            </a:r>
            <a:endParaRPr/>
          </a:p>
          <a:p>
            <a:pPr lvl="0" rtl="0">
              <a:spcBef>
                <a:spcPts val="0"/>
              </a:spcBef>
              <a:buNone/>
            </a:pPr>
            <a:r>
              <a:rPr lang="zh-CN"/>
              <a:t>Team: Chih Chang, Manna Lin, Jiayu 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zh-CN"/>
              <a:t>Motivation</a:t>
            </a:r>
          </a:p>
        </p:txBody>
      </p:sp>
      <p:sp>
        <p:nvSpPr>
          <p:cNvPr id="61" name="Shape 61"/>
          <p:cNvSpPr txBox="1"/>
          <p:nvPr>
            <p:ph idx="1" type="body"/>
          </p:nvPr>
        </p:nvSpPr>
        <p:spPr>
          <a:xfrm>
            <a:off x="311700" y="1085100"/>
            <a:ext cx="8520599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1"/>
                </a:solidFill>
              </a:rPr>
              <a:t>Scenario: when an individual has sensitive information that he or she wishes to be mass distributed to random trusted others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lvl="0" rtl="0">
              <a:spcBef>
                <a:spcPts val="0"/>
              </a:spcBef>
              <a:buNone/>
            </a:pPr>
            <a:r>
              <a:rPr lang="zh-CN">
                <a:solidFill>
                  <a:srgbClr val="000000"/>
                </a:solidFill>
              </a:rPr>
              <a:t>Network: Ad hoc with trust and malicious node</a:t>
            </a:r>
          </a:p>
          <a:p>
            <a:pPr lvl="0">
              <a:spcBef>
                <a:spcPts val="0"/>
              </a:spcBef>
              <a:buNone/>
            </a:pPr>
            <a:r>
              <a:rPr lang="zh-CN">
                <a:solidFill>
                  <a:srgbClr val="000000"/>
                </a:solidFill>
              </a:rPr>
              <a:t>Goal: malicious nodes are unable to read the message or know the source of the message</a:t>
            </a:r>
          </a:p>
        </p:txBody>
      </p:sp>
      <p:pic>
        <p:nvPicPr>
          <p:cNvPr descr="Spy-128.png" id="62" name="Shape 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33300" y="3332800"/>
            <a:ext cx="1810699" cy="1810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67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zh-CN"/>
              <a:t>Background and Definition</a:t>
            </a:r>
          </a:p>
        </p:txBody>
      </p:sp>
      <p:sp>
        <p:nvSpPr>
          <p:cNvPr id="68" name="Shape 68"/>
          <p:cNvSpPr txBox="1"/>
          <p:nvPr>
            <p:ph idx="1" type="body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228600" lvl="0" marL="457200" rtl="0">
              <a:spcBef>
                <a:spcPts val="0"/>
              </a:spcBef>
              <a:buAutoNum type="arabicPeriod"/>
            </a:pPr>
            <a:r>
              <a:rPr lang="zh-CN"/>
              <a:t>The Onion Routing</a:t>
            </a:r>
          </a:p>
          <a:p>
            <a:pPr indent="-228600" lvl="1" marL="914400" rtl="0">
              <a:spcBef>
                <a:spcPts val="0"/>
              </a:spcBef>
            </a:pPr>
            <a:r>
              <a:rPr lang="zh-CN"/>
              <a:t>ANODR: TOR-like routing protocol for MANET</a:t>
            </a:r>
          </a:p>
          <a:p>
            <a:pPr indent="-228600" lvl="0" marL="457200" rtl="0">
              <a:spcBef>
                <a:spcPts val="0"/>
              </a:spcBef>
              <a:buAutoNum type="arabicPeriod"/>
            </a:pPr>
            <a:r>
              <a:rPr lang="zh-CN"/>
              <a:t>Community authenticated anonymous routing</a:t>
            </a:r>
          </a:p>
          <a:p>
            <a:pPr indent="-228600" lvl="1" marL="914400" rtl="0">
              <a:spcBef>
                <a:spcPts val="0"/>
              </a:spcBef>
            </a:pPr>
            <a:r>
              <a:rPr lang="zh-CN"/>
              <a:t>SDAR: use ANODV as basis, but routes maintained by community managers</a:t>
            </a:r>
          </a:p>
          <a:p>
            <a:pPr indent="-228600" lvl="0" marL="457200" rtl="0">
              <a:spcBef>
                <a:spcPts val="0"/>
              </a:spcBef>
              <a:buAutoNum type="arabicPeriod"/>
            </a:pPr>
            <a:r>
              <a:rPr lang="zh-CN"/>
              <a:t>Location guided anonymous routing</a:t>
            </a:r>
          </a:p>
          <a:p>
            <a:pPr indent="-228600" lvl="1" marL="914400" rtl="0">
              <a:spcBef>
                <a:spcPts val="0"/>
              </a:spcBef>
            </a:pPr>
            <a:r>
              <a:rPr lang="zh-CN"/>
              <a:t>ALARM: optimize routing based on location information</a:t>
            </a:r>
          </a:p>
          <a:p>
            <a:pPr indent="-228600" lvl="0" marL="457200" rtl="0">
              <a:spcBef>
                <a:spcPts val="0"/>
              </a:spcBef>
              <a:buAutoNum type="arabicPeriod"/>
            </a:pPr>
            <a:r>
              <a:rPr lang="zh-CN"/>
              <a:t>Social tie routing</a:t>
            </a:r>
          </a:p>
          <a:p>
            <a:pPr indent="-228600" lvl="1" marL="914400" rtl="0">
              <a:spcBef>
                <a:spcPts val="0"/>
              </a:spcBef>
            </a:pPr>
            <a:r>
              <a:rPr lang="zh-CN"/>
              <a:t>routing a packet towards a most popular center</a:t>
            </a:r>
          </a:p>
          <a:p>
            <a:pPr indent="-228600" lvl="0" marL="457200" rtl="0">
              <a:spcBef>
                <a:spcPts val="0"/>
              </a:spcBef>
              <a:buAutoNum type="arabicPeriod"/>
            </a:pPr>
            <a:r>
              <a:rPr lang="zh-CN"/>
              <a:t>Delayed tolerant routing</a:t>
            </a:r>
          </a:p>
          <a:p>
            <a:pPr indent="-228600" lvl="1" marL="914400" rtl="0">
              <a:spcBef>
                <a:spcPts val="0"/>
              </a:spcBef>
            </a:pPr>
            <a:r>
              <a:rPr lang="zh-CN"/>
              <a:t>packet sending should tolerate delays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zh-CN"/>
              <a:t>Anonymity Set</a:t>
            </a:r>
          </a:p>
        </p:txBody>
      </p:sp>
      <p:sp>
        <p:nvSpPr>
          <p:cNvPr id="74" name="Shape 74"/>
          <p:cNvSpPr txBox="1"/>
          <p:nvPr>
            <p:ph idx="1" type="body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228600" lvl="0" marL="457200" rtl="0">
              <a:spcBef>
                <a:spcPts val="0"/>
              </a:spcBef>
            </a:pPr>
            <a:r>
              <a:rPr lang="zh-CN"/>
              <a:t>A source has n neighbors</a:t>
            </a:r>
          </a:p>
          <a:p>
            <a:pPr indent="-228600" lvl="0" marL="457200" rtl="0">
              <a:spcBef>
                <a:spcPts val="0"/>
              </a:spcBef>
            </a:pPr>
            <a:r>
              <a:rPr lang="zh-CN"/>
              <a:t>Each neighbor has the opportunity to guess who the source is because they will receive a broadcast</a:t>
            </a:r>
          </a:p>
          <a:p>
            <a:pPr indent="-228600" lvl="0" marL="457200" rtl="0">
              <a:spcBef>
                <a:spcPts val="0"/>
              </a:spcBef>
            </a:pPr>
            <a:r>
              <a:rPr lang="zh-CN"/>
              <a:t>Each neighbor can only guess from its own neighbors because one of those must have sent the message</a:t>
            </a:r>
          </a:p>
          <a:p>
            <a:pPr indent="-228600" lvl="0" marL="457200" rtl="0">
              <a:spcBef>
                <a:spcPts val="0"/>
              </a:spcBef>
            </a:pPr>
            <a:r>
              <a:rPr lang="zh-CN"/>
              <a:t>Anonymity set is the size of these neighborhoods such that the probability of guessing the source is </a:t>
            </a:r>
          </a:p>
          <a:p>
            <a:pPr indent="-228600" lvl="1" marL="914400">
              <a:spcBef>
                <a:spcPts val="0"/>
              </a:spcBef>
            </a:pPr>
            <a:r>
              <a:rPr lang="zh-CN"/>
              <a:t>1-p(every neighbor guessing wrong) = p(at least one neighbor guessing right)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zh-CN"/>
              <a:t>Threat Models</a:t>
            </a:r>
          </a:p>
        </p:txBody>
      </p:sp>
      <p:sp>
        <p:nvSpPr>
          <p:cNvPr id="80" name="Shape 80"/>
          <p:cNvSpPr txBox="1"/>
          <p:nvPr>
            <p:ph idx="1" type="body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CN"/>
              <a:t>What can mallicious node do?</a:t>
            </a:r>
          </a:p>
          <a:p>
            <a:pPr lvl="0" rtl="0">
              <a:spcBef>
                <a:spcPts val="0"/>
              </a:spcBef>
              <a:buNone/>
            </a:pPr>
            <a:r>
              <a:rPr lang="zh-CN"/>
              <a:t>Hear everything, move around, follow someone, send fake values, keep silent, collaborate with other mallicious node to attack a node, detect the path and assume who send the encryted message, mallicious node can spam, cheating...</a:t>
            </a:r>
          </a:p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pic>
        <p:nvPicPr>
          <p:cNvPr descr="Dog-On-The-Phone.jpg" id="81" name="Shape 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6522" y="2738975"/>
            <a:ext cx="3605647" cy="2404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zh-CN"/>
              <a:t>Malicious Concerns</a:t>
            </a:r>
          </a:p>
        </p:txBody>
      </p:sp>
      <p:sp>
        <p:nvSpPr>
          <p:cNvPr id="87" name="Shape 87"/>
          <p:cNvSpPr txBox="1"/>
          <p:nvPr>
            <p:ph idx="1" type="body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228600" lvl="0" marL="457200" rtl="0">
              <a:spcBef>
                <a:spcPts val="0"/>
              </a:spcBef>
              <a:buAutoNum type="arabicPeriod"/>
            </a:pPr>
            <a:r>
              <a:rPr lang="zh-CN"/>
              <a:t>Cooperation</a:t>
            </a:r>
          </a:p>
          <a:p>
            <a:pPr indent="-228600" lvl="1" marL="914400" rtl="0">
              <a:spcBef>
                <a:spcPts val="0"/>
              </a:spcBef>
              <a:buAutoNum type="alphaLcPeriod"/>
            </a:pPr>
            <a:r>
              <a:rPr lang="zh-CN"/>
              <a:t>Anonymity sets may overlap</a:t>
            </a:r>
          </a:p>
          <a:p>
            <a:pPr indent="-228600" lvl="1" marL="914400" rtl="0">
              <a:spcBef>
                <a:spcPts val="0"/>
              </a:spcBef>
              <a:buAutoNum type="alphaLcPeriod"/>
            </a:pPr>
            <a:r>
              <a:rPr lang="zh-CN"/>
              <a:t>Nodes can share data and keys</a:t>
            </a: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Arial"/>
              <a:buAutoNum type="arabicPeriod"/>
            </a:pPr>
            <a:r>
              <a:rPr lang="zh-CN"/>
              <a:t>False advertising</a:t>
            </a:r>
          </a:p>
          <a:p>
            <a: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AutoNum type="alphaLcPeriod"/>
            </a:pPr>
            <a:r>
              <a:rPr lang="zh-CN"/>
              <a:t>Nodes may broadcast false information</a:t>
            </a:r>
          </a:p>
          <a:p>
            <a: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AutoNum type="alphaLcPeriod"/>
            </a:pPr>
            <a:r>
              <a:rPr lang="zh-CN"/>
              <a:t>Nodes may rebroadcast data</a:t>
            </a:r>
          </a:p>
          <a:p>
            <a: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AutoNum type="alphaLcPeriod"/>
            </a:pPr>
            <a:r>
              <a:rPr lang="zh-CN"/>
              <a:t>Nodes may collect but never broadcast data</a:t>
            </a:r>
          </a:p>
          <a:p>
            <a: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AutoNum type="arabicPeriod"/>
            </a:pPr>
            <a:r>
              <a:rPr lang="zh-CN"/>
              <a:t>Mobility</a:t>
            </a:r>
          </a:p>
          <a:p>
            <a: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AutoNum type="alphaLcPeriod"/>
            </a:pPr>
            <a:r>
              <a:rPr lang="zh-CN"/>
              <a:t>Nodes may physically follow or avoid other nodes</a:t>
            </a:r>
          </a:p>
          <a:p>
            <a: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AutoNum type="alphaLcPeriod"/>
            </a:pPr>
            <a:r>
              <a:rPr lang="zh-CN"/>
              <a:t>Nodes may freely come into or out of the network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zh-CN"/>
              <a:t>Our Schema</a:t>
            </a:r>
          </a:p>
        </p:txBody>
      </p:sp>
      <p:sp>
        <p:nvSpPr>
          <p:cNvPr id="93" name="Shape 93"/>
          <p:cNvSpPr txBox="1"/>
          <p:nvPr>
            <p:ph idx="1" type="body"/>
          </p:nvPr>
        </p:nvSpPr>
        <p:spPr>
          <a:xfrm>
            <a:off x="311700" y="1152475"/>
            <a:ext cx="8520599" cy="38601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rgbClr val="000000"/>
                </a:solidFill>
              </a:rPr>
              <a:t>Social-tie building schema</a:t>
            </a:r>
          </a:p>
          <a:p>
            <a:pPr indent="-342900" lvl="0" marL="457200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AutoNum type="alphaLcPeriod"/>
            </a:pPr>
            <a:r>
              <a:rPr lang="zh-CN">
                <a:solidFill>
                  <a:srgbClr val="000000"/>
                </a:solidFill>
              </a:rPr>
              <a:t>Reliable neighbor: send hello messages to all the neigbors periodically to discover the neighbours in their transmitting range.</a:t>
            </a:r>
          </a:p>
          <a:p>
            <a:pPr indent="-342900" lvl="0" marL="457200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AutoNum type="alphaLcPeriod"/>
            </a:pPr>
            <a:r>
              <a:rPr lang="zh-CN">
                <a:solidFill>
                  <a:srgbClr val="000000"/>
                </a:solidFill>
              </a:rPr>
              <a:t>Neighbors who receive “hello” message record &lt;nodeID, encounter_time&gt;</a:t>
            </a:r>
          </a:p>
          <a:p>
            <a:pPr indent="-342900" lvl="0" marL="457200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AutoNum type="alphaLcPeriod"/>
            </a:pPr>
            <a:r>
              <a:rPr lang="zh-CN">
                <a:solidFill>
                  <a:srgbClr val="000000"/>
                </a:solidFill>
              </a:rPr>
              <a:t>Calculate social tie trust score for every node</a:t>
            </a:r>
          </a:p>
          <a:p>
            <a:pPr lvl="0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rgbClr val="000000"/>
                </a:solidFill>
              </a:rPr>
              <a:t>       formula (times of encounter, encouter period):  </a:t>
            </a:r>
          </a:p>
          <a:p>
            <a:pPr indent="0" lvl="0" marL="457200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rgbClr val="33333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trustScore[tuple.</a:t>
            </a:r>
            <a:r>
              <a:rPr lang="zh-CN" sz="1200">
                <a:solidFill>
                  <a:srgbClr val="0086B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GetID</a:t>
            </a:r>
            <a:r>
              <a:rPr lang="zh-CN" sz="1200">
                <a:solidFill>
                  <a:srgbClr val="33333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()] += </a:t>
            </a:r>
            <a:r>
              <a:rPr lang="zh-CN" sz="1200">
                <a:solidFill>
                  <a:srgbClr val="0086B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pow</a:t>
            </a:r>
            <a:r>
              <a:rPr lang="zh-CN" sz="1200">
                <a:solidFill>
                  <a:srgbClr val="33333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(factor, lambda * (curr_time.</a:t>
            </a:r>
            <a:r>
              <a:rPr lang="zh-CN" sz="1200">
                <a:solidFill>
                  <a:srgbClr val="0086B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GetSeconds</a:t>
            </a:r>
            <a:r>
              <a:rPr lang="zh-CN" sz="1200">
                <a:solidFill>
                  <a:srgbClr val="33333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 - tuple.timestamp.</a:t>
            </a:r>
            <a:r>
              <a:rPr lang="zh-CN" sz="1200">
                <a:solidFill>
                  <a:srgbClr val="0086B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GetSeconds</a:t>
            </a:r>
            <a:r>
              <a:rPr lang="zh-CN" sz="1200">
                <a:solidFill>
                  <a:srgbClr val="33333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()));</a:t>
            </a:r>
          </a:p>
          <a:p>
            <a:pPr indent="-342900" lvl="0" marL="457200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AutoNum type="alphaLcPeriod"/>
            </a:pPr>
            <a:r>
              <a:rPr lang="zh-CN">
                <a:solidFill>
                  <a:srgbClr val="000000"/>
                </a:solidFill>
              </a:rPr>
              <a:t>Set a threshold for reliability to pick out a group of reliable</a:t>
            </a:r>
          </a:p>
          <a:p>
            <a:pPr lvl="0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rgbClr val="000000"/>
                </a:solidFill>
              </a:rPr>
              <a:t>       nodes. Forward the message/key to this set of nodes</a:t>
            </a:r>
          </a:p>
          <a:p>
            <a:pPr lvl="0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lvl="0">
              <a:spcBef>
                <a:spcPts val="0"/>
              </a:spcBef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94" name="Shape 94"/>
          <p:cNvSpPr/>
          <p:nvPr/>
        </p:nvSpPr>
        <p:spPr>
          <a:xfrm>
            <a:off x="6874825" y="3767550"/>
            <a:ext cx="1895399" cy="990599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95" name="Shape 95"/>
          <p:cNvSpPr txBox="1"/>
          <p:nvPr/>
        </p:nvSpPr>
        <p:spPr>
          <a:xfrm>
            <a:off x="7930900" y="3879450"/>
            <a:ext cx="352499" cy="2858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 algn="l">
              <a:spcBef>
                <a:spcPts val="0"/>
              </a:spcBef>
              <a:buNone/>
            </a:pPr>
            <a:r>
              <a:rPr lang="zh-CN"/>
              <a:t>A</a:t>
            </a:r>
          </a:p>
          <a:p>
            <a:pPr lvl="0" rtl="0" algn="l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96" name="Shape 96"/>
          <p:cNvSpPr txBox="1"/>
          <p:nvPr/>
        </p:nvSpPr>
        <p:spPr>
          <a:xfrm>
            <a:off x="7280850" y="3879450"/>
            <a:ext cx="352499" cy="2858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 algn="l">
              <a:spcBef>
                <a:spcPts val="0"/>
              </a:spcBef>
              <a:buNone/>
            </a:pPr>
            <a:r>
              <a:rPr lang="zh-CN"/>
              <a:t>B</a:t>
            </a:r>
          </a:p>
          <a:p>
            <a:pPr lvl="0" rtl="0" algn="l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97" name="Shape 97"/>
          <p:cNvSpPr txBox="1"/>
          <p:nvPr/>
        </p:nvSpPr>
        <p:spPr>
          <a:xfrm>
            <a:off x="7389200" y="4342625"/>
            <a:ext cx="352499" cy="2858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 algn="l">
              <a:spcBef>
                <a:spcPts val="0"/>
              </a:spcBef>
              <a:buNone/>
            </a:pPr>
            <a:r>
              <a:rPr lang="zh-CN"/>
              <a:t>C</a:t>
            </a:r>
          </a:p>
          <a:p>
            <a:pPr lvl="0" rtl="0" algn="l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98" name="Shape 98"/>
          <p:cNvSpPr txBox="1"/>
          <p:nvPr/>
        </p:nvSpPr>
        <p:spPr>
          <a:xfrm>
            <a:off x="8077375" y="4217600"/>
            <a:ext cx="352499" cy="2858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 algn="l">
              <a:spcBef>
                <a:spcPts val="0"/>
              </a:spcBef>
              <a:buNone/>
            </a:pPr>
            <a:r>
              <a:rPr lang="zh-CN"/>
              <a:t>D</a:t>
            </a:r>
          </a:p>
          <a:p>
            <a:pPr lvl="0" rtl="0" algn="l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cxnSp>
        <p:nvCxnSpPr>
          <p:cNvPr id="99" name="Shape 99"/>
          <p:cNvCxnSpPr>
            <a:stCxn id="96" idx="3"/>
            <a:endCxn id="95" idx="1"/>
          </p:cNvCxnSpPr>
          <p:nvPr/>
        </p:nvCxnSpPr>
        <p:spPr>
          <a:xfrm>
            <a:off x="7633350" y="4022399"/>
            <a:ext cx="2976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lg" w="lg" type="none"/>
            <a:tailEnd len="lg" w="lg" type="triangle"/>
          </a:ln>
        </p:spPr>
      </p:cxnSp>
      <p:cxnSp>
        <p:nvCxnSpPr>
          <p:cNvPr id="100" name="Shape 100"/>
          <p:cNvCxnSpPr>
            <a:stCxn id="96" idx="3"/>
            <a:endCxn id="97" idx="0"/>
          </p:cNvCxnSpPr>
          <p:nvPr/>
        </p:nvCxnSpPr>
        <p:spPr>
          <a:xfrm flipH="1">
            <a:off x="7565550" y="4022399"/>
            <a:ext cx="67800" cy="3201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lg" w="lg" type="none"/>
            <a:tailEnd len="lg" w="lg" type="triangle"/>
          </a:ln>
        </p:spPr>
      </p:cxnSp>
      <p:cxnSp>
        <p:nvCxnSpPr>
          <p:cNvPr id="101" name="Shape 101"/>
          <p:cNvCxnSpPr>
            <a:stCxn id="96" idx="3"/>
            <a:endCxn id="98" idx="1"/>
          </p:cNvCxnSpPr>
          <p:nvPr/>
        </p:nvCxnSpPr>
        <p:spPr>
          <a:xfrm>
            <a:off x="7633350" y="4022399"/>
            <a:ext cx="444000" cy="3381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lg" w="lg" type="none"/>
            <a:tailEnd len="lg" w="lg" type="triangle"/>
          </a:ln>
        </p:spPr>
      </p:cxnSp>
      <p:cxnSp>
        <p:nvCxnSpPr>
          <p:cNvPr id="102" name="Shape 102"/>
          <p:cNvCxnSpPr>
            <a:stCxn id="95" idx="1"/>
            <a:endCxn id="96" idx="3"/>
          </p:cNvCxnSpPr>
          <p:nvPr/>
        </p:nvCxnSpPr>
        <p:spPr>
          <a:xfrm rot="10800000">
            <a:off x="7633300" y="4022399"/>
            <a:ext cx="2976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lg" w="lg" type="none"/>
            <a:tailEnd len="lg" w="lg" type="triangle"/>
          </a:ln>
        </p:spPr>
      </p:cxnSp>
      <p:cxnSp>
        <p:nvCxnSpPr>
          <p:cNvPr id="103" name="Shape 103"/>
          <p:cNvCxnSpPr>
            <a:stCxn id="95" idx="1"/>
            <a:endCxn id="98" idx="1"/>
          </p:cNvCxnSpPr>
          <p:nvPr/>
        </p:nvCxnSpPr>
        <p:spPr>
          <a:xfrm>
            <a:off x="7930900" y="4022399"/>
            <a:ext cx="146400" cy="3381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lg" w="lg" type="none"/>
            <a:tailEnd len="lg" w="lg" type="triangle"/>
          </a:ln>
        </p:spPr>
      </p:cxnSp>
      <p:cxnSp>
        <p:nvCxnSpPr>
          <p:cNvPr id="104" name="Shape 104"/>
          <p:cNvCxnSpPr>
            <a:stCxn id="95" idx="1"/>
            <a:endCxn id="97" idx="0"/>
          </p:cNvCxnSpPr>
          <p:nvPr/>
        </p:nvCxnSpPr>
        <p:spPr>
          <a:xfrm flipH="1">
            <a:off x="7565500" y="4022399"/>
            <a:ext cx="365400" cy="3201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lg" w="lg" type="none"/>
            <a:tailEnd len="lg" w="lg" type="triangle"/>
          </a:ln>
        </p:spPr>
      </p:cxnSp>
      <p:cxnSp>
        <p:nvCxnSpPr>
          <p:cNvPr id="105" name="Shape 105"/>
          <p:cNvCxnSpPr>
            <a:stCxn id="98" idx="1"/>
          </p:cNvCxnSpPr>
          <p:nvPr/>
        </p:nvCxnSpPr>
        <p:spPr>
          <a:xfrm>
            <a:off x="8077375" y="4360549"/>
            <a:ext cx="184500" cy="611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lg" w="lg" type="none"/>
            <a:tailEnd len="lg" w="lg" type="triangle"/>
          </a:ln>
        </p:spPr>
      </p:cxnSp>
      <p:sp>
        <p:nvSpPr>
          <p:cNvPr id="106" name="Shape 106"/>
          <p:cNvSpPr txBox="1"/>
          <p:nvPr/>
        </p:nvSpPr>
        <p:spPr>
          <a:xfrm>
            <a:off x="8261875" y="4805775"/>
            <a:ext cx="352499" cy="2858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 algn="l">
              <a:spcBef>
                <a:spcPts val="0"/>
              </a:spcBef>
              <a:buNone/>
            </a:pPr>
            <a:r>
              <a:rPr lang="zh-CN"/>
              <a:t>E</a:t>
            </a:r>
          </a:p>
        </p:txBody>
      </p:sp>
      <p:cxnSp>
        <p:nvCxnSpPr>
          <p:cNvPr id="107" name="Shape 107"/>
          <p:cNvCxnSpPr>
            <a:stCxn id="97" idx="0"/>
            <a:endCxn id="95" idx="1"/>
          </p:cNvCxnSpPr>
          <p:nvPr/>
        </p:nvCxnSpPr>
        <p:spPr>
          <a:xfrm flipH="1" rot="10800000">
            <a:off x="7565450" y="4022525"/>
            <a:ext cx="365400" cy="3201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lg" w="lg" type="none"/>
            <a:tailEnd len="lg" w="lg" type="triangle"/>
          </a:ln>
        </p:spPr>
      </p:cxnSp>
      <p:cxnSp>
        <p:nvCxnSpPr>
          <p:cNvPr id="108" name="Shape 108"/>
          <p:cNvCxnSpPr>
            <a:stCxn id="98" idx="1"/>
            <a:endCxn id="97" idx="0"/>
          </p:cNvCxnSpPr>
          <p:nvPr/>
        </p:nvCxnSpPr>
        <p:spPr>
          <a:xfrm rot="10800000">
            <a:off x="7565575" y="4342549"/>
            <a:ext cx="511800" cy="18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lg" w="lg" type="none"/>
            <a:tailEnd len="lg" w="lg" type="triangle"/>
          </a:ln>
        </p:spPr>
      </p:cxnSp>
      <p:cxnSp>
        <p:nvCxnSpPr>
          <p:cNvPr id="109" name="Shape 109"/>
          <p:cNvCxnSpPr/>
          <p:nvPr/>
        </p:nvCxnSpPr>
        <p:spPr>
          <a:xfrm rot="10800000">
            <a:off x="6694800" y="2711150"/>
            <a:ext cx="10799" cy="674999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lg" w="lg" type="none"/>
            <a:tailEnd len="lg" w="lg" type="triangle"/>
          </a:ln>
        </p:spPr>
      </p:cxnSp>
      <p:cxnSp>
        <p:nvCxnSpPr>
          <p:cNvPr id="110" name="Shape 110"/>
          <p:cNvCxnSpPr/>
          <p:nvPr/>
        </p:nvCxnSpPr>
        <p:spPr>
          <a:xfrm>
            <a:off x="6716325" y="3375425"/>
            <a:ext cx="1382399" cy="2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lg" w="lg" type="none"/>
            <a:tailEnd len="lg" w="lg" type="triangle"/>
          </a:ln>
        </p:spPr>
      </p:cxnSp>
      <p:cxnSp>
        <p:nvCxnSpPr>
          <p:cNvPr id="111" name="Shape 111"/>
          <p:cNvCxnSpPr/>
          <p:nvPr/>
        </p:nvCxnSpPr>
        <p:spPr>
          <a:xfrm>
            <a:off x="6877050" y="2796775"/>
            <a:ext cx="1049999" cy="4608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lg" w="lg" type="none"/>
            <a:tailEnd len="lg" w="lg" type="none"/>
          </a:ln>
        </p:spPr>
      </p:cxnSp>
      <p:sp>
        <p:nvSpPr>
          <p:cNvPr id="112" name="Shape 112"/>
          <p:cNvSpPr txBox="1"/>
          <p:nvPr/>
        </p:nvSpPr>
        <p:spPr>
          <a:xfrm>
            <a:off x="7393825" y="3369612"/>
            <a:ext cx="857400" cy="2858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zh-CN" sz="1000"/>
              <a:t>time period</a:t>
            </a:r>
          </a:p>
        </p:txBody>
      </p:sp>
      <p:sp>
        <p:nvSpPr>
          <p:cNvPr id="113" name="Shape 113"/>
          <p:cNvSpPr txBox="1"/>
          <p:nvPr/>
        </p:nvSpPr>
        <p:spPr>
          <a:xfrm>
            <a:off x="6279550" y="2711150"/>
            <a:ext cx="511799" cy="4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CN" sz="1000"/>
              <a:t>trust score</a:t>
            </a:r>
          </a:p>
        </p:txBody>
      </p:sp>
      <p:cxnSp>
        <p:nvCxnSpPr>
          <p:cNvPr id="114" name="Shape 114"/>
          <p:cNvCxnSpPr>
            <a:stCxn id="97" idx="0"/>
            <a:endCxn id="98" idx="1"/>
          </p:cNvCxnSpPr>
          <p:nvPr/>
        </p:nvCxnSpPr>
        <p:spPr>
          <a:xfrm>
            <a:off x="7565450" y="4342625"/>
            <a:ext cx="511800" cy="18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lg" w="lg" type="none"/>
            <a:tailEnd len="lg" w="lg" type="triangle"/>
          </a:ln>
        </p:spPr>
      </p:cxnSp>
      <p:cxnSp>
        <p:nvCxnSpPr>
          <p:cNvPr id="115" name="Shape 115"/>
          <p:cNvCxnSpPr>
            <a:stCxn id="98" idx="1"/>
            <a:endCxn id="95" idx="1"/>
          </p:cNvCxnSpPr>
          <p:nvPr/>
        </p:nvCxnSpPr>
        <p:spPr>
          <a:xfrm rot="10800000">
            <a:off x="7930975" y="4022449"/>
            <a:ext cx="146400" cy="3381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lg" w="lg" type="none"/>
            <a:tailEnd len="lg" w="lg" type="triangle"/>
          </a:ln>
        </p:spPr>
      </p:cxnSp>
      <p:cxnSp>
        <p:nvCxnSpPr>
          <p:cNvPr id="116" name="Shape 116"/>
          <p:cNvCxnSpPr>
            <a:stCxn id="97" idx="0"/>
            <a:endCxn id="96" idx="3"/>
          </p:cNvCxnSpPr>
          <p:nvPr/>
        </p:nvCxnSpPr>
        <p:spPr>
          <a:xfrm flipH="1" rot="10800000">
            <a:off x="7565450" y="4022525"/>
            <a:ext cx="67800" cy="3201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lg" w="lg" type="none"/>
            <a:tailEnd len="lg" w="lg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21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zh-CN"/>
              <a:t>Our Schema</a:t>
            </a:r>
          </a:p>
        </p:txBody>
      </p:sp>
      <p:sp>
        <p:nvSpPr>
          <p:cNvPr id="122" name="Shape 122"/>
          <p:cNvSpPr txBox="1"/>
          <p:nvPr>
            <p:ph idx="1" type="body"/>
          </p:nvPr>
        </p:nvSpPr>
        <p:spPr>
          <a:xfrm>
            <a:off x="311700" y="1152475"/>
            <a:ext cx="8520599" cy="27060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After the social routing schema seting up</a:t>
            </a:r>
          </a:p>
          <a:p>
            <a:pPr lvl="0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Message-key sending schema</a:t>
            </a:r>
          </a:p>
          <a:p>
            <a:pPr lvl="0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rgbClr val="000000"/>
                </a:solidFill>
              </a:rPr>
              <a:t>For the source node:</a:t>
            </a:r>
          </a:p>
          <a:p>
            <a:pPr indent="-342900" lvl="1" marL="914400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lphaLcPeriod"/>
            </a:pPr>
            <a:r>
              <a:rPr lang="zh-CN" sz="1800"/>
              <a:t>Broadcasting encrypted message at position A to all its neighbours</a:t>
            </a:r>
          </a:p>
          <a:p>
            <a:pPr indent="0" lvl="0" marL="457200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       </a:t>
            </a:r>
            <a:r>
              <a:rPr lang="zh-CN" sz="1400">
                <a:solidFill>
                  <a:schemeClr val="dk1"/>
                </a:solidFill>
              </a:rPr>
              <a:t>(keyID, Encrypted Message)</a:t>
            </a:r>
          </a:p>
          <a:p>
            <a:pPr indent="-342900" lvl="1" marL="914400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lphaLcPeriod"/>
            </a:pPr>
            <a:r>
              <a:rPr lang="zh-CN" sz="1800"/>
              <a:t>Moves around and send the key of the message at position A’</a:t>
            </a:r>
          </a:p>
          <a:p>
            <a:pPr indent="-342900" lvl="1" marL="914400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lphaLcPeriod"/>
            </a:pPr>
            <a:r>
              <a:rPr lang="zh-CN" sz="1800"/>
              <a:t>Hopefully, the message and key can reach </a:t>
            </a:r>
          </a:p>
          <a:p>
            <a:pPr indent="0" lvl="0" marL="457200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       the same trusted nodes</a:t>
            </a:r>
          </a:p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23" name="Shape 123"/>
          <p:cNvSpPr/>
          <p:nvPr/>
        </p:nvSpPr>
        <p:spPr>
          <a:xfrm>
            <a:off x="7717800" y="3553375"/>
            <a:ext cx="352499" cy="2286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24" name="Shape 124"/>
          <p:cNvSpPr/>
          <p:nvPr/>
        </p:nvSpPr>
        <p:spPr>
          <a:xfrm>
            <a:off x="6469875" y="3553375"/>
            <a:ext cx="352499" cy="2286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25" name="Shape 125"/>
          <p:cNvSpPr/>
          <p:nvPr/>
        </p:nvSpPr>
        <p:spPr>
          <a:xfrm>
            <a:off x="7446300" y="3115075"/>
            <a:ext cx="1386000" cy="1666799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26" name="Shape 126"/>
          <p:cNvSpPr/>
          <p:nvPr/>
        </p:nvSpPr>
        <p:spPr>
          <a:xfrm>
            <a:off x="6012825" y="3838975"/>
            <a:ext cx="2457599" cy="1104899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27" name="Shape 127"/>
          <p:cNvSpPr/>
          <p:nvPr/>
        </p:nvSpPr>
        <p:spPr>
          <a:xfrm>
            <a:off x="5460375" y="3296050"/>
            <a:ext cx="1895399" cy="990599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28" name="Shape 128"/>
          <p:cNvSpPr txBox="1"/>
          <p:nvPr/>
        </p:nvSpPr>
        <p:spPr>
          <a:xfrm>
            <a:off x="6469875" y="3448525"/>
            <a:ext cx="352499" cy="2858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 algn="l">
              <a:spcBef>
                <a:spcPts val="0"/>
              </a:spcBef>
              <a:buNone/>
            </a:pPr>
            <a:r>
              <a:rPr lang="zh-CN"/>
              <a:t>A</a:t>
            </a:r>
          </a:p>
        </p:txBody>
      </p:sp>
      <p:sp>
        <p:nvSpPr>
          <p:cNvPr id="129" name="Shape 129"/>
          <p:cNvSpPr txBox="1"/>
          <p:nvPr/>
        </p:nvSpPr>
        <p:spPr>
          <a:xfrm>
            <a:off x="6012825" y="3267475"/>
            <a:ext cx="352499" cy="2858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 algn="l">
              <a:spcBef>
                <a:spcPts val="0"/>
              </a:spcBef>
              <a:buNone/>
            </a:pPr>
            <a:r>
              <a:rPr lang="zh-CN"/>
              <a:t>B</a:t>
            </a:r>
          </a:p>
          <a:p>
            <a:pPr lvl="0" rtl="0" algn="l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30" name="Shape 130"/>
          <p:cNvSpPr txBox="1"/>
          <p:nvPr/>
        </p:nvSpPr>
        <p:spPr>
          <a:xfrm>
            <a:off x="5784225" y="3781975"/>
            <a:ext cx="352499" cy="2858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 algn="l">
              <a:spcBef>
                <a:spcPts val="0"/>
              </a:spcBef>
              <a:buNone/>
            </a:pPr>
            <a:r>
              <a:rPr lang="zh-CN"/>
              <a:t>C</a:t>
            </a:r>
          </a:p>
          <a:p>
            <a:pPr lvl="0" rtl="0" algn="l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31" name="Shape 131"/>
          <p:cNvSpPr txBox="1"/>
          <p:nvPr/>
        </p:nvSpPr>
        <p:spPr>
          <a:xfrm>
            <a:off x="6365325" y="4000750"/>
            <a:ext cx="352499" cy="28589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 rtl="0" algn="l">
              <a:spcBef>
                <a:spcPts val="0"/>
              </a:spcBef>
              <a:buNone/>
            </a:pPr>
            <a:r>
              <a:rPr lang="zh-CN"/>
              <a:t>D</a:t>
            </a:r>
          </a:p>
          <a:p>
            <a:pPr lvl="0" rtl="0" algn="l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32" name="Shape 132"/>
          <p:cNvSpPr txBox="1"/>
          <p:nvPr/>
        </p:nvSpPr>
        <p:spPr>
          <a:xfrm>
            <a:off x="6765450" y="4420000"/>
            <a:ext cx="352499" cy="2858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 algn="l">
              <a:spcBef>
                <a:spcPts val="0"/>
              </a:spcBef>
              <a:buNone/>
            </a:pPr>
            <a:r>
              <a:rPr lang="zh-CN"/>
              <a:t>E</a:t>
            </a:r>
          </a:p>
          <a:p>
            <a:pPr lvl="0" rtl="0" algn="l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33" name="Shape 133"/>
          <p:cNvSpPr txBox="1"/>
          <p:nvPr/>
        </p:nvSpPr>
        <p:spPr>
          <a:xfrm>
            <a:off x="7570125" y="4173175"/>
            <a:ext cx="352499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 rtl="0" algn="l">
              <a:spcBef>
                <a:spcPts val="0"/>
              </a:spcBef>
              <a:buNone/>
            </a:pPr>
            <a:r>
              <a:rPr lang="zh-CN"/>
              <a:t>F</a:t>
            </a:r>
          </a:p>
          <a:p>
            <a:pPr lvl="0" rtl="0" algn="l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34" name="Shape 134"/>
          <p:cNvSpPr txBox="1"/>
          <p:nvPr/>
        </p:nvSpPr>
        <p:spPr>
          <a:xfrm>
            <a:off x="7770150" y="3486475"/>
            <a:ext cx="352499" cy="2858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 algn="l">
              <a:spcBef>
                <a:spcPts val="0"/>
              </a:spcBef>
              <a:buNone/>
            </a:pPr>
            <a:r>
              <a:rPr lang="zh-CN"/>
              <a:t>A’</a:t>
            </a:r>
          </a:p>
          <a:p>
            <a:pPr lvl="0" rtl="0" algn="l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35" name="Shape 135"/>
          <p:cNvSpPr txBox="1"/>
          <p:nvPr/>
        </p:nvSpPr>
        <p:spPr>
          <a:xfrm>
            <a:off x="8265450" y="3410275"/>
            <a:ext cx="352499" cy="3716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 algn="l">
              <a:spcBef>
                <a:spcPts val="0"/>
              </a:spcBef>
              <a:buNone/>
            </a:pPr>
            <a:r>
              <a:rPr lang="zh-CN"/>
              <a:t>B’</a:t>
            </a:r>
          </a:p>
          <a:p>
            <a:pPr lvl="0" rtl="0" algn="l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cxnSp>
        <p:nvCxnSpPr>
          <p:cNvPr id="136" name="Shape 136"/>
          <p:cNvCxnSpPr>
            <a:stCxn id="131" idx="0"/>
            <a:endCxn id="131" idx="0"/>
          </p:cNvCxnSpPr>
          <p:nvPr/>
        </p:nvCxnSpPr>
        <p:spPr>
          <a:xfrm>
            <a:off x="6541575" y="4000750"/>
            <a:ext cx="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lg" w="lg" type="none"/>
            <a:tailEnd len="lg" w="lg" type="none"/>
          </a:ln>
        </p:spPr>
      </p:cxnSp>
      <p:cxnSp>
        <p:nvCxnSpPr>
          <p:cNvPr id="137" name="Shape 137"/>
          <p:cNvCxnSpPr>
            <a:stCxn id="128" idx="2"/>
            <a:endCxn id="131" idx="0"/>
          </p:cNvCxnSpPr>
          <p:nvPr/>
        </p:nvCxnSpPr>
        <p:spPr>
          <a:xfrm flipH="1">
            <a:off x="6541725" y="3734424"/>
            <a:ext cx="104400" cy="266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lg" w="lg" type="none"/>
            <a:tailEnd len="lg" w="lg" type="triangle"/>
          </a:ln>
        </p:spPr>
      </p:cxnSp>
      <p:cxnSp>
        <p:nvCxnSpPr>
          <p:cNvPr id="138" name="Shape 138"/>
          <p:cNvCxnSpPr>
            <a:stCxn id="134" idx="2"/>
            <a:endCxn id="133" idx="0"/>
          </p:cNvCxnSpPr>
          <p:nvPr/>
        </p:nvCxnSpPr>
        <p:spPr>
          <a:xfrm flipH="1">
            <a:off x="7746300" y="3772374"/>
            <a:ext cx="200100" cy="400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lg" w="lg" type="none"/>
            <a:tailEnd len="lg" w="lg" type="triangle"/>
          </a:ln>
        </p:spPr>
      </p:cxnSp>
      <p:cxnSp>
        <p:nvCxnSpPr>
          <p:cNvPr id="139" name="Shape 139"/>
          <p:cNvCxnSpPr>
            <a:stCxn id="133" idx="0"/>
            <a:endCxn id="132" idx="2"/>
          </p:cNvCxnSpPr>
          <p:nvPr/>
        </p:nvCxnSpPr>
        <p:spPr>
          <a:xfrm flipH="1">
            <a:off x="6941775" y="4173175"/>
            <a:ext cx="804600" cy="532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lg" w="lg" type="none"/>
            <a:tailEnd len="lg" w="lg" type="triangle"/>
          </a:ln>
        </p:spPr>
      </p:cxnSp>
      <p:cxnSp>
        <p:nvCxnSpPr>
          <p:cNvPr id="140" name="Shape 140"/>
          <p:cNvCxnSpPr>
            <a:stCxn id="132" idx="2"/>
            <a:endCxn id="131" idx="0"/>
          </p:cNvCxnSpPr>
          <p:nvPr/>
        </p:nvCxnSpPr>
        <p:spPr>
          <a:xfrm rot="10800000">
            <a:off x="6541500" y="4000899"/>
            <a:ext cx="400200" cy="705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lg" w="lg" type="none"/>
            <a:tailEnd len="lg" w="lg" type="triangle"/>
          </a:ln>
        </p:spPr>
      </p:cxnSp>
      <p:sp>
        <p:nvSpPr>
          <p:cNvPr id="141" name="Shape 141"/>
          <p:cNvSpPr txBox="1"/>
          <p:nvPr/>
        </p:nvSpPr>
        <p:spPr>
          <a:xfrm>
            <a:off x="6624787" y="3753325"/>
            <a:ext cx="73829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 algn="l">
              <a:spcBef>
                <a:spcPts val="0"/>
              </a:spcBef>
              <a:buNone/>
            </a:pPr>
            <a:r>
              <a:rPr lang="zh-CN" sz="1000"/>
              <a:t>message</a:t>
            </a:r>
          </a:p>
        </p:txBody>
      </p:sp>
      <p:sp>
        <p:nvSpPr>
          <p:cNvPr id="142" name="Shape 142"/>
          <p:cNvSpPr txBox="1"/>
          <p:nvPr/>
        </p:nvSpPr>
        <p:spPr>
          <a:xfrm>
            <a:off x="7793987" y="3858475"/>
            <a:ext cx="73829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 algn="l">
              <a:spcBef>
                <a:spcPts val="0"/>
              </a:spcBef>
              <a:buNone/>
            </a:pPr>
            <a:r>
              <a:rPr lang="zh-CN" sz="1000"/>
              <a:t>key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147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ct val="39285"/>
              <a:buFont typeface="Arial"/>
              <a:buNone/>
            </a:pPr>
            <a:r>
              <a:rPr lang="zh-CN"/>
              <a:t>Our Schema</a:t>
            </a:r>
          </a:p>
        </p:txBody>
      </p:sp>
      <p:sp>
        <p:nvSpPr>
          <p:cNvPr id="148" name="Shape 148"/>
          <p:cNvSpPr txBox="1"/>
          <p:nvPr>
            <p:ph idx="1" type="body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zh-CN"/>
              <a:t>After the social routing schema seting up</a:t>
            </a:r>
          </a:p>
          <a:p>
            <a:pPr lvl="0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zh-CN"/>
              <a:t>Message-key sending schema</a:t>
            </a:r>
          </a:p>
          <a:p>
            <a:pPr lvl="0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zh-CN">
                <a:solidFill>
                  <a:schemeClr val="dk1"/>
                </a:solidFill>
              </a:rPr>
              <a:t>For intermediate node:</a:t>
            </a:r>
          </a:p>
          <a:p>
            <a:pPr indent="387350" lvl="0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zh-CN">
                <a:solidFill>
                  <a:schemeClr val="dk1"/>
                </a:solidFill>
              </a:rPr>
              <a:t>Sending</a:t>
            </a:r>
          </a:p>
          <a:p>
            <a:pPr indent="-342900" lvl="1" marL="914400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lphaLcPeriod"/>
            </a:pPr>
            <a:r>
              <a:rPr lang="zh-CN" sz="1800"/>
              <a:t>Use table to find out the most trust nodes</a:t>
            </a:r>
          </a:p>
          <a:p>
            <a:pPr indent="-342900" lvl="1" marL="914400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lphaLcPeriod"/>
            </a:pPr>
            <a:r>
              <a:rPr lang="zh-CN" sz="1800"/>
              <a:t>Send the Message to other nodes</a:t>
            </a:r>
          </a:p>
          <a:p>
            <a:pPr indent="0" lvl="0" marL="457200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Receiving</a:t>
            </a:r>
          </a:p>
          <a:p>
            <a:pPr indent="-228600" lvl="0" marL="914400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AutoNum type="alphaLcPeriod"/>
            </a:pPr>
            <a:r>
              <a:rPr lang="zh-CN"/>
              <a:t>Check if they have both message and </a:t>
            </a:r>
          </a:p>
          <a:p>
            <a:pPr lv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               key and decrypt use it to decrypt the message</a:t>
            </a:r>
          </a:p>
        </p:txBody>
      </p:sp>
      <p:sp>
        <p:nvSpPr>
          <p:cNvPr id="149" name="Shape 149"/>
          <p:cNvSpPr/>
          <p:nvPr/>
        </p:nvSpPr>
        <p:spPr>
          <a:xfrm>
            <a:off x="7717800" y="3553375"/>
            <a:ext cx="352499" cy="2286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50" name="Shape 150"/>
          <p:cNvSpPr/>
          <p:nvPr/>
        </p:nvSpPr>
        <p:spPr>
          <a:xfrm>
            <a:off x="6469875" y="3553375"/>
            <a:ext cx="352499" cy="2286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51" name="Shape 151"/>
          <p:cNvSpPr/>
          <p:nvPr/>
        </p:nvSpPr>
        <p:spPr>
          <a:xfrm>
            <a:off x="7446300" y="3115075"/>
            <a:ext cx="1386000" cy="1666799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52" name="Shape 152"/>
          <p:cNvSpPr/>
          <p:nvPr/>
        </p:nvSpPr>
        <p:spPr>
          <a:xfrm>
            <a:off x="6012825" y="3838975"/>
            <a:ext cx="2457599" cy="1104899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53" name="Shape 153"/>
          <p:cNvSpPr/>
          <p:nvPr/>
        </p:nvSpPr>
        <p:spPr>
          <a:xfrm>
            <a:off x="5460375" y="3296050"/>
            <a:ext cx="1895399" cy="990599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54" name="Shape 154"/>
          <p:cNvSpPr txBox="1"/>
          <p:nvPr/>
        </p:nvSpPr>
        <p:spPr>
          <a:xfrm>
            <a:off x="6469875" y="3448525"/>
            <a:ext cx="352499" cy="2858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 algn="l">
              <a:spcBef>
                <a:spcPts val="0"/>
              </a:spcBef>
              <a:buNone/>
            </a:pPr>
            <a:r>
              <a:rPr lang="zh-CN"/>
              <a:t>A</a:t>
            </a:r>
          </a:p>
        </p:txBody>
      </p:sp>
      <p:sp>
        <p:nvSpPr>
          <p:cNvPr id="155" name="Shape 155"/>
          <p:cNvSpPr txBox="1"/>
          <p:nvPr/>
        </p:nvSpPr>
        <p:spPr>
          <a:xfrm>
            <a:off x="6012825" y="3267475"/>
            <a:ext cx="352499" cy="2858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 algn="l">
              <a:spcBef>
                <a:spcPts val="0"/>
              </a:spcBef>
              <a:buNone/>
            </a:pPr>
            <a:r>
              <a:rPr lang="zh-CN"/>
              <a:t>B</a:t>
            </a:r>
          </a:p>
          <a:p>
            <a:pPr lvl="0" rtl="0" algn="l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56" name="Shape 156"/>
          <p:cNvSpPr txBox="1"/>
          <p:nvPr/>
        </p:nvSpPr>
        <p:spPr>
          <a:xfrm>
            <a:off x="5784225" y="3781975"/>
            <a:ext cx="352499" cy="2858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 algn="l">
              <a:spcBef>
                <a:spcPts val="0"/>
              </a:spcBef>
              <a:buNone/>
            </a:pPr>
            <a:r>
              <a:rPr lang="zh-CN"/>
              <a:t>C</a:t>
            </a:r>
          </a:p>
          <a:p>
            <a:pPr lvl="0" rtl="0" algn="l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57" name="Shape 157"/>
          <p:cNvSpPr txBox="1"/>
          <p:nvPr/>
        </p:nvSpPr>
        <p:spPr>
          <a:xfrm>
            <a:off x="6365325" y="4000750"/>
            <a:ext cx="352499" cy="28589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 rtl="0" algn="l">
              <a:spcBef>
                <a:spcPts val="0"/>
              </a:spcBef>
              <a:buNone/>
            </a:pPr>
            <a:r>
              <a:rPr lang="zh-CN"/>
              <a:t>D</a:t>
            </a:r>
          </a:p>
          <a:p>
            <a:pPr lvl="0" rtl="0" algn="l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58" name="Shape 158"/>
          <p:cNvSpPr txBox="1"/>
          <p:nvPr/>
        </p:nvSpPr>
        <p:spPr>
          <a:xfrm>
            <a:off x="6765450" y="4420000"/>
            <a:ext cx="352499" cy="2858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 algn="l">
              <a:spcBef>
                <a:spcPts val="0"/>
              </a:spcBef>
              <a:buNone/>
            </a:pPr>
            <a:r>
              <a:rPr lang="zh-CN"/>
              <a:t>E</a:t>
            </a:r>
          </a:p>
          <a:p>
            <a:pPr lvl="0" rtl="0" algn="l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59" name="Shape 159"/>
          <p:cNvSpPr txBox="1"/>
          <p:nvPr/>
        </p:nvSpPr>
        <p:spPr>
          <a:xfrm>
            <a:off x="7570125" y="4173175"/>
            <a:ext cx="352499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 rtl="0" algn="l">
              <a:spcBef>
                <a:spcPts val="0"/>
              </a:spcBef>
              <a:buNone/>
            </a:pPr>
            <a:r>
              <a:rPr lang="zh-CN"/>
              <a:t>F</a:t>
            </a:r>
          </a:p>
          <a:p>
            <a:pPr lvl="0" rtl="0" algn="l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60" name="Shape 160"/>
          <p:cNvSpPr txBox="1"/>
          <p:nvPr/>
        </p:nvSpPr>
        <p:spPr>
          <a:xfrm>
            <a:off x="7770150" y="3486475"/>
            <a:ext cx="352499" cy="2858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 algn="l">
              <a:spcBef>
                <a:spcPts val="0"/>
              </a:spcBef>
              <a:buNone/>
            </a:pPr>
            <a:r>
              <a:rPr lang="zh-CN"/>
              <a:t>A’</a:t>
            </a:r>
          </a:p>
          <a:p>
            <a:pPr lvl="0" rtl="0" algn="l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61" name="Shape 161"/>
          <p:cNvSpPr txBox="1"/>
          <p:nvPr/>
        </p:nvSpPr>
        <p:spPr>
          <a:xfrm>
            <a:off x="8265450" y="3410275"/>
            <a:ext cx="352499" cy="3716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 algn="l">
              <a:spcBef>
                <a:spcPts val="0"/>
              </a:spcBef>
              <a:buNone/>
            </a:pPr>
            <a:r>
              <a:rPr lang="zh-CN"/>
              <a:t>B’</a:t>
            </a:r>
          </a:p>
          <a:p>
            <a:pPr lvl="0" rtl="0" algn="l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cxnSp>
        <p:nvCxnSpPr>
          <p:cNvPr id="162" name="Shape 162"/>
          <p:cNvCxnSpPr>
            <a:stCxn id="157" idx="0"/>
            <a:endCxn id="157" idx="0"/>
          </p:cNvCxnSpPr>
          <p:nvPr/>
        </p:nvCxnSpPr>
        <p:spPr>
          <a:xfrm>
            <a:off x="6541575" y="4000750"/>
            <a:ext cx="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lg" w="lg" type="none"/>
            <a:tailEnd len="lg" w="lg" type="none"/>
          </a:ln>
        </p:spPr>
      </p:cxnSp>
      <p:cxnSp>
        <p:nvCxnSpPr>
          <p:cNvPr id="163" name="Shape 163"/>
          <p:cNvCxnSpPr>
            <a:stCxn id="154" idx="2"/>
            <a:endCxn id="157" idx="0"/>
          </p:cNvCxnSpPr>
          <p:nvPr/>
        </p:nvCxnSpPr>
        <p:spPr>
          <a:xfrm flipH="1">
            <a:off x="6541725" y="3734424"/>
            <a:ext cx="104400" cy="266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lg" w="lg" type="none"/>
            <a:tailEnd len="lg" w="lg" type="triangle"/>
          </a:ln>
        </p:spPr>
      </p:cxnSp>
      <p:cxnSp>
        <p:nvCxnSpPr>
          <p:cNvPr id="164" name="Shape 164"/>
          <p:cNvCxnSpPr>
            <a:stCxn id="160" idx="2"/>
            <a:endCxn id="159" idx="0"/>
          </p:cNvCxnSpPr>
          <p:nvPr/>
        </p:nvCxnSpPr>
        <p:spPr>
          <a:xfrm flipH="1">
            <a:off x="7746300" y="3772374"/>
            <a:ext cx="200100" cy="400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lg" w="lg" type="none"/>
            <a:tailEnd len="lg" w="lg" type="triangle"/>
          </a:ln>
        </p:spPr>
      </p:cxnSp>
      <p:cxnSp>
        <p:nvCxnSpPr>
          <p:cNvPr id="165" name="Shape 165"/>
          <p:cNvCxnSpPr>
            <a:stCxn id="159" idx="0"/>
            <a:endCxn id="158" idx="2"/>
          </p:cNvCxnSpPr>
          <p:nvPr/>
        </p:nvCxnSpPr>
        <p:spPr>
          <a:xfrm flipH="1">
            <a:off x="6941775" y="4173175"/>
            <a:ext cx="804600" cy="532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lg" w="lg" type="none"/>
            <a:tailEnd len="lg" w="lg" type="triangle"/>
          </a:ln>
        </p:spPr>
      </p:cxnSp>
      <p:cxnSp>
        <p:nvCxnSpPr>
          <p:cNvPr id="166" name="Shape 166"/>
          <p:cNvCxnSpPr>
            <a:stCxn id="158" idx="2"/>
            <a:endCxn id="157" idx="0"/>
          </p:cNvCxnSpPr>
          <p:nvPr/>
        </p:nvCxnSpPr>
        <p:spPr>
          <a:xfrm rot="10800000">
            <a:off x="6541500" y="4000899"/>
            <a:ext cx="400200" cy="705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lg" w="lg" type="none"/>
            <a:tailEnd len="lg" w="lg" type="triangle"/>
          </a:ln>
        </p:spPr>
      </p:cxnSp>
      <p:sp>
        <p:nvSpPr>
          <p:cNvPr id="167" name="Shape 167"/>
          <p:cNvSpPr txBox="1"/>
          <p:nvPr/>
        </p:nvSpPr>
        <p:spPr>
          <a:xfrm>
            <a:off x="6624787" y="3753325"/>
            <a:ext cx="73829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 algn="l">
              <a:spcBef>
                <a:spcPts val="0"/>
              </a:spcBef>
              <a:buNone/>
            </a:pPr>
            <a:r>
              <a:rPr lang="zh-CN" sz="1000"/>
              <a:t>message</a:t>
            </a:r>
          </a:p>
        </p:txBody>
      </p:sp>
      <p:sp>
        <p:nvSpPr>
          <p:cNvPr id="168" name="Shape 168"/>
          <p:cNvSpPr txBox="1"/>
          <p:nvPr/>
        </p:nvSpPr>
        <p:spPr>
          <a:xfrm>
            <a:off x="7793987" y="3858475"/>
            <a:ext cx="73829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 algn="l">
              <a:spcBef>
                <a:spcPts val="0"/>
              </a:spcBef>
              <a:buNone/>
            </a:pPr>
            <a:r>
              <a:rPr lang="zh-CN" sz="1000"/>
              <a:t>key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173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zh-CN"/>
              <a:t>Our Schema</a:t>
            </a:r>
          </a:p>
        </p:txBody>
      </p:sp>
      <p:sp>
        <p:nvSpPr>
          <p:cNvPr id="174" name="Shape 174"/>
          <p:cNvSpPr txBox="1"/>
          <p:nvPr>
            <p:ph idx="1" type="body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Social-tie building schema</a:t>
            </a:r>
          </a:p>
          <a:p>
            <a:pPr lvl="0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Assumption: a node encounters trusted notes more frequently than untrusted nodes</a:t>
            </a:r>
          </a:p>
          <a:p>
            <a:pPr indent="-228600" lvl="0" marL="457200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zh-CN"/>
              <a:t>Pros: </a:t>
            </a:r>
          </a:p>
          <a:p>
            <a:pPr indent="-228600" lvl="1" marL="914400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lang="zh-CN"/>
              <a:t>avoid popularity cheating from malicious neighbours</a:t>
            </a:r>
          </a:p>
          <a:p>
            <a:pPr indent="-228600" lvl="1" marL="914400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lang="zh-CN"/>
              <a:t>achieve anonymous because nodes do not know where the broadcast is sent from</a:t>
            </a:r>
          </a:p>
          <a:p>
            <a:pPr indent="-228600" lvl="1" marL="914400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lang="zh-CN"/>
              <a:t>trust value is calculated by individual nodes rather than depending on information collected by others</a:t>
            </a:r>
          </a:p>
          <a:p>
            <a:pPr indent="-228600" lvl="1" marL="914400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lang="zh-CN"/>
              <a:t>keys and encrypted messages are delayed so less likely for a single node to receive both unless the node is highly trusted by many other nodes</a:t>
            </a:r>
          </a:p>
          <a:p>
            <a:pPr indent="-228600" lvl="0" marL="457200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zh-CN"/>
              <a:t>Cons: mallicious node cheating problems, spam problems</a:t>
            </a:r>
          </a:p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Shape 179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zh-CN"/>
              <a:t>Metrics and Evaluation</a:t>
            </a:r>
          </a:p>
        </p:txBody>
      </p:sp>
      <p:sp>
        <p:nvSpPr>
          <p:cNvPr id="180" name="Shape 180"/>
          <p:cNvSpPr txBox="1"/>
          <p:nvPr>
            <p:ph idx="1" type="body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228600" lvl="0" marL="457200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AutoNum type="arabicPeriod"/>
            </a:pPr>
            <a:r>
              <a:rPr lang="zh-CN">
                <a:solidFill>
                  <a:srgbClr val="000000"/>
                </a:solidFill>
              </a:rPr>
              <a:t>Arguments:</a:t>
            </a:r>
          </a:p>
          <a:p>
            <a:pPr indent="-317500" lvl="1" marL="914400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AutoNum type="alphaLcPeriod"/>
            </a:pPr>
            <a:r>
              <a:rPr lang="zh-CN">
                <a:solidFill>
                  <a:srgbClr val="000000"/>
                </a:solidFill>
              </a:rPr>
              <a:t>node size</a:t>
            </a:r>
          </a:p>
          <a:p>
            <a:pPr indent="-317500" lvl="1" marL="914400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AutoNum type="alphaLcPeriod"/>
            </a:pPr>
            <a:r>
              <a:rPr lang="zh-CN">
                <a:solidFill>
                  <a:srgbClr val="000000"/>
                </a:solidFill>
              </a:rPr>
              <a:t>density</a:t>
            </a:r>
          </a:p>
          <a:p>
            <a:pPr indent="-317500" lvl="1" marL="914400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AutoNum type="alphaLcPeriod"/>
            </a:pPr>
            <a:r>
              <a:rPr lang="zh-CN">
                <a:solidFill>
                  <a:srgbClr val="000000"/>
                </a:solidFill>
              </a:rPr>
              <a:t>mobility(node travel distence and node speed)</a:t>
            </a:r>
          </a:p>
          <a:p>
            <a:pPr indent="-342900" lvl="0" marL="457200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AutoNum type="arabicPeriod"/>
            </a:pPr>
            <a:r>
              <a:rPr lang="zh-CN">
                <a:solidFill>
                  <a:srgbClr val="000000"/>
                </a:solidFill>
              </a:rPr>
              <a:t>Metrics:</a:t>
            </a:r>
          </a:p>
          <a:p>
            <a:pPr indent="-317500" lvl="1" marL="914400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AutoNum type="alphaLcPeriod"/>
            </a:pPr>
            <a:r>
              <a:rPr lang="zh-CN">
                <a:solidFill>
                  <a:srgbClr val="000000"/>
                </a:solidFill>
              </a:rPr>
              <a:t>delay of sending key</a:t>
            </a:r>
          </a:p>
          <a:p>
            <a:pPr indent="-317500" lvl="1" marL="914400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AutoNum type="alphaLcPeriod"/>
            </a:pPr>
            <a:r>
              <a:rPr lang="zh-CN">
                <a:solidFill>
                  <a:srgbClr val="000000"/>
                </a:solidFill>
              </a:rPr>
              <a:t>malicious ratio</a:t>
            </a:r>
          </a:p>
          <a:p>
            <a:pPr indent="-317500" lvl="1" marL="914400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AutoNum type="alphaLcPeriod"/>
            </a:pPr>
            <a:r>
              <a:rPr lang="zh-CN">
                <a:solidFill>
                  <a:srgbClr val="000000"/>
                </a:solidFill>
              </a:rPr>
              <a:t>threshold of trust neighbor</a:t>
            </a:r>
          </a:p>
          <a:p>
            <a:pPr indent="-317500" lvl="1" marL="914400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AutoNum type="alphaLcPeriod"/>
            </a:pPr>
            <a:r>
              <a:rPr lang="zh-CN">
                <a:solidFill>
                  <a:srgbClr val="000000"/>
                </a:solidFill>
              </a:rPr>
              <a:t>anonymity</a:t>
            </a:r>
          </a:p>
          <a:p>
            <a:pPr indent="-317500" lvl="1" marL="9144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AutoNum type="alphaLcPeriod"/>
            </a:pPr>
            <a:r>
              <a:rPr lang="zh-CN">
                <a:solidFill>
                  <a:srgbClr val="000000"/>
                </a:solidFill>
              </a:rPr>
              <a:t>overhead</a:t>
            </a:r>
          </a:p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Shape 185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zh-CN"/>
              <a:t>Setup: NS-3</a:t>
            </a:r>
          </a:p>
        </p:txBody>
      </p:sp>
      <p:sp>
        <p:nvSpPr>
          <p:cNvPr id="186" name="Shape 186"/>
          <p:cNvSpPr txBox="1"/>
          <p:nvPr>
            <p:ph idx="1" type="body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228600" lvl="0" marL="457200" rtl="0">
              <a:spcBef>
                <a:spcPts val="0"/>
              </a:spcBef>
            </a:pPr>
            <a:r>
              <a:rPr lang="zh-CN"/>
              <a:t>Mobility: 2D Random Walk</a:t>
            </a:r>
          </a:p>
          <a:p>
            <a:pPr indent="-228600" lvl="0" marL="457200" rtl="0">
              <a:spcBef>
                <a:spcPts val="0"/>
              </a:spcBef>
            </a:pPr>
            <a:r>
              <a:rPr lang="zh-CN"/>
              <a:t>Broadcast Range: 10.0 units</a:t>
            </a:r>
          </a:p>
          <a:p>
            <a:pPr indent="-228600" lvl="0" marL="457200" rtl="0">
              <a:spcBef>
                <a:spcPts val="0"/>
              </a:spcBef>
            </a:pPr>
            <a:r>
              <a:rPr lang="zh-CN"/>
              <a:t>Hello broadcast every 2 seconds</a:t>
            </a:r>
          </a:p>
          <a:p>
            <a:pPr indent="-228600" lvl="0" marL="457200" rtl="0">
              <a:spcBef>
                <a:spcPts val="0"/>
              </a:spcBef>
            </a:pPr>
            <a:r>
              <a:rPr lang="zh-CN"/>
              <a:t>Simulation run time (55 seconds)</a:t>
            </a:r>
          </a:p>
          <a:p>
            <a:pPr indent="-228600" lvl="0" marL="457200" rtl="0">
              <a:spcBef>
                <a:spcPts val="0"/>
              </a:spcBef>
            </a:pPr>
            <a:r>
              <a:rPr lang="zh-CN"/>
              <a:t>Default values</a:t>
            </a:r>
          </a:p>
          <a:p>
            <a:pPr indent="-228600" lvl="1" marL="914400" rtl="0">
              <a:spcBef>
                <a:spcPts val="0"/>
              </a:spcBef>
            </a:pPr>
            <a:r>
              <a:rPr lang="zh-CN"/>
              <a:t>number of nodes (default 50)</a:t>
            </a:r>
          </a:p>
          <a:p>
            <a:pPr indent="-228600" lvl="1" marL="914400" rtl="0">
              <a:spcBef>
                <a:spcPts val="0"/>
              </a:spcBef>
            </a:pPr>
            <a:r>
              <a:rPr lang="zh-CN"/>
              <a:t>density of the network (default 10)</a:t>
            </a:r>
          </a:p>
          <a:p>
            <a:pPr indent="-228600" lvl="1" marL="914400" rtl="0">
              <a:spcBef>
                <a:spcPts val="0"/>
              </a:spcBef>
            </a:pPr>
            <a:r>
              <a:rPr lang="zh-CN"/>
              <a:t>how far a node will travel (default 300)</a:t>
            </a:r>
          </a:p>
          <a:p>
            <a:pPr indent="-228600" lvl="1" marL="914400" rtl="0">
              <a:spcBef>
                <a:spcPts val="0"/>
              </a:spcBef>
            </a:pPr>
            <a:r>
              <a:rPr lang="zh-CN"/>
              <a:t>speed of each node (default 100.0)</a:t>
            </a:r>
          </a:p>
          <a:p>
            <a:pPr indent="-228600" lvl="1" marL="914400" rtl="0">
              <a:spcBef>
                <a:spcPts val="0"/>
              </a:spcBef>
            </a:pPr>
            <a:r>
              <a:rPr lang="zh-CN"/>
              <a:t>percentage of malicious nodes (default 0.5)</a:t>
            </a:r>
          </a:p>
          <a:p>
            <a:pPr indent="-228600" lvl="1" marL="914400" rtl="0">
              <a:spcBef>
                <a:spcPts val="0"/>
              </a:spcBef>
            </a:pPr>
            <a:r>
              <a:rPr lang="zh-CN"/>
              <a:t>threshold for social score (default 1.0)</a:t>
            </a:r>
          </a:p>
          <a:p>
            <a:pPr indent="-228600" lvl="1" marL="914400" rtl="0">
              <a:spcBef>
                <a:spcPts val="0"/>
              </a:spcBef>
            </a:pPr>
            <a:r>
              <a:rPr lang="zh-CN"/>
              <a:t>the time period between sending message and key (default 3)</a:t>
            </a:r>
          </a:p>
          <a:p>
            <a:pPr indent="-228600" lvl="1" marL="914400" rtl="0">
              <a:spcBef>
                <a:spcPts val="0"/>
              </a:spcBef>
            </a:pPr>
            <a:r>
              <a:rPr lang="zh-CN"/>
              <a:t>the node chosen to be the source (default 2)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Shape 191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Clr>
                <a:schemeClr val="dk1"/>
              </a:buClr>
              <a:buSzPct val="39285"/>
              <a:buFont typeface="Arial"/>
              <a:buNone/>
            </a:pPr>
            <a:r>
              <a:rPr lang="zh-CN"/>
              <a:t>Density VS Msg Decode</a:t>
            </a:r>
          </a:p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graphicFrame>
        <p:nvGraphicFramePr>
          <p:cNvPr id="192" name="Shape 192"/>
          <p:cNvGraphicFramePr/>
          <p:nvPr/>
        </p:nvGraphicFramePr>
        <p:xfrm>
          <a:off x="1080475" y="2000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{2DF012CE-5F57-41F2-843E-A3DA5A3B7A30}</a:tableStyleId>
              </a:tblPr>
              <a:tblGrid>
                <a:gridCol w="2011650"/>
                <a:gridCol w="1254150"/>
                <a:gridCol w="1632900"/>
                <a:gridCol w="1632900"/>
              </a:tblGrid>
              <a:tr h="535625">
                <a:tc>
                  <a:txBody>
                    <a:bodyPr>
                      <a:noAutofit/>
                    </a:bodyPr>
                    <a:lstStyle/>
                    <a:p>
                      <a:pPr lvl="0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sz="1800"/>
                        <a:t>sparseness</a:t>
                      </a:r>
                    </a:p>
                  </a:txBody>
                  <a:tcPr marT="19050" marB="19050" marR="28575" marL="28575" anchor="b"/>
                </a:tc>
                <a:tc>
                  <a:txBody>
                    <a:bodyPr>
                      <a:noAutofit/>
                    </a:bodyPr>
                    <a:lstStyle/>
                    <a:p>
                      <a:pPr lv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sz="1800"/>
                        <a:t>10</a:t>
                      </a:r>
                    </a:p>
                  </a:txBody>
                  <a:tcPr marT="19050" marB="19050" marR="28575" marL="28575" anchor="b"/>
                </a:tc>
                <a:tc>
                  <a:txBody>
                    <a:bodyPr>
                      <a:noAutofit/>
                    </a:bodyPr>
                    <a:lstStyle/>
                    <a:p>
                      <a:pPr lv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sz="1800"/>
                        <a:t>30</a:t>
                      </a:r>
                    </a:p>
                  </a:txBody>
                  <a:tcPr marT="19050" marB="19050" marR="28575" marL="28575" anchor="b"/>
                </a:tc>
                <a:tc>
                  <a:txBody>
                    <a:bodyPr>
                      <a:noAutofit/>
                    </a:bodyPr>
                    <a:lstStyle/>
                    <a:p>
                      <a:pPr lv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sz="1800"/>
                        <a:t>50</a:t>
                      </a:r>
                    </a:p>
                  </a:txBody>
                  <a:tcPr marT="19050" marB="19050" marR="28575" marL="28575" anchor="b"/>
                </a:tc>
              </a:tr>
              <a:tr h="535625">
                <a:tc>
                  <a:txBody>
                    <a:bodyPr>
                      <a:noAutofit/>
                    </a:bodyPr>
                    <a:lstStyle/>
                    <a:p>
                      <a:pPr lvl="0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sz="1800"/>
                        <a:t>msg decoded by malicious nodes</a:t>
                      </a:r>
                    </a:p>
                  </a:txBody>
                  <a:tcPr marT="19050" marB="19050" marR="28575" marL="28575" anchor="b"/>
                </a:tc>
                <a:tc>
                  <a:txBody>
                    <a:bodyPr>
                      <a:noAutofit/>
                    </a:bodyPr>
                    <a:lstStyle/>
                    <a:p>
                      <a:pPr lv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sz="1800"/>
                        <a:t>5/12</a:t>
                      </a:r>
                    </a:p>
                  </a:txBody>
                  <a:tcPr marT="19050" marB="19050" marR="28575" marL="28575" anchor="b"/>
                </a:tc>
                <a:tc>
                  <a:txBody>
                    <a:bodyPr>
                      <a:noAutofit/>
                    </a:bodyPr>
                    <a:lstStyle/>
                    <a:p>
                      <a:pPr lv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sz="1800"/>
                        <a:t>4/8</a:t>
                      </a:r>
                    </a:p>
                  </a:txBody>
                  <a:tcPr marT="19050" marB="19050" marR="28575" marL="28575" anchor="b"/>
                </a:tc>
                <a:tc>
                  <a:txBody>
                    <a:bodyPr>
                      <a:noAutofit/>
                    </a:bodyPr>
                    <a:lstStyle/>
                    <a:p>
                      <a:pPr lv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sz="1800"/>
                        <a:t>4/5</a:t>
                      </a:r>
                    </a:p>
                  </a:txBody>
                  <a:tcPr marT="19050" marB="19050" marR="28575" marL="28575" anchor="b"/>
                </a:tc>
              </a:tr>
              <a:tr h="776650">
                <a:tc>
                  <a:txBody>
                    <a:bodyPr>
                      <a:noAutofit/>
                    </a:bodyPr>
                    <a:lstStyle/>
                    <a:p>
                      <a:pPr lvl="0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sz="1800"/>
                        <a:t>probability of randomly guessing the source on avg</a:t>
                      </a:r>
                    </a:p>
                  </a:txBody>
                  <a:tcPr marT="19050" marB="19050" marR="28575" marL="28575" anchor="b"/>
                </a:tc>
                <a:tc>
                  <a:txBody>
                    <a:bodyPr>
                      <a:noAutofit/>
                    </a:bodyPr>
                    <a:lstStyle/>
                    <a:p>
                      <a:pPr lv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sz="1800"/>
                        <a:t>0.15</a:t>
                      </a:r>
                    </a:p>
                  </a:txBody>
                  <a:tcPr marT="19050" marB="19050" marR="28575" marL="28575" anchor="b"/>
                </a:tc>
                <a:tc>
                  <a:txBody>
                    <a:bodyPr>
                      <a:noAutofit/>
                    </a:bodyPr>
                    <a:lstStyle/>
                    <a:p>
                      <a:pPr lv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sz="1800"/>
                        <a:t>0.52</a:t>
                      </a:r>
                    </a:p>
                  </a:txBody>
                  <a:tcPr marT="19050" marB="19050" marR="28575" marL="28575" anchor="b"/>
                </a:tc>
                <a:tc>
                  <a:txBody>
                    <a:bodyPr>
                      <a:noAutofit/>
                    </a:bodyPr>
                    <a:lstStyle/>
                    <a:p>
                      <a:pPr lv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sz="1800"/>
                        <a:t>0.52</a:t>
                      </a:r>
                    </a:p>
                  </a:txBody>
                  <a:tcPr marT="19050" marB="19050" marR="28575" marL="28575" anchor="b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Shape 197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CN"/>
              <a:t>Malicious Ratio VS Msg Decode</a:t>
            </a:r>
          </a:p>
          <a:p>
            <a:pPr lv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graphicFrame>
        <p:nvGraphicFramePr>
          <p:cNvPr id="198" name="Shape 198"/>
          <p:cNvGraphicFramePr/>
          <p:nvPr/>
        </p:nvGraphicFramePr>
        <p:xfrm>
          <a:off x="1167125" y="1989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{2DF012CE-5F57-41F2-843E-A3DA5A3B7A30}</a:tableStyleId>
              </a:tblPr>
              <a:tblGrid>
                <a:gridCol w="1361950"/>
                <a:gridCol w="1361950"/>
                <a:gridCol w="1361950"/>
                <a:gridCol w="1361950"/>
                <a:gridCol w="1361950"/>
              </a:tblGrid>
              <a:tr h="1012700">
                <a:tc>
                  <a:txBody>
                    <a:bodyPr>
                      <a:noAutofit/>
                    </a:bodyPr>
                    <a:lstStyle/>
                    <a:p>
                      <a:pPr lvl="0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sz="1800"/>
                        <a:t>malicious ratio</a:t>
                      </a:r>
                    </a:p>
                  </a:txBody>
                  <a:tcPr marT="19050" marB="19050" marR="28575" marL="28575" anchor="b"/>
                </a:tc>
                <a:tc>
                  <a:txBody>
                    <a:bodyPr>
                      <a:noAutofit/>
                    </a:bodyPr>
                    <a:lstStyle/>
                    <a:p>
                      <a:pPr lv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sz="1800"/>
                        <a:t>0.05</a:t>
                      </a:r>
                    </a:p>
                  </a:txBody>
                  <a:tcPr marT="19050" marB="19050" marR="28575" marL="28575" anchor="b"/>
                </a:tc>
                <a:tc>
                  <a:txBody>
                    <a:bodyPr>
                      <a:noAutofit/>
                    </a:bodyPr>
                    <a:lstStyle/>
                    <a:p>
                      <a:pPr lv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sz="1800"/>
                        <a:t>0.55</a:t>
                      </a:r>
                    </a:p>
                  </a:txBody>
                  <a:tcPr marT="19050" marB="19050" marR="28575" marL="28575" anchor="b"/>
                </a:tc>
                <a:tc>
                  <a:txBody>
                    <a:bodyPr>
                      <a:noAutofit/>
                    </a:bodyPr>
                    <a:lstStyle/>
                    <a:p>
                      <a:pPr lv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sz="1800"/>
                        <a:t>0.75</a:t>
                      </a:r>
                    </a:p>
                  </a:txBody>
                  <a:tcPr marT="19050" marB="19050" marR="28575" marL="28575" anchor="b"/>
                </a:tc>
                <a:tc>
                  <a:txBody>
                    <a:bodyPr>
                      <a:noAutofit/>
                    </a:bodyPr>
                    <a:lstStyle/>
                    <a:p>
                      <a:pPr lv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sz="1800"/>
                        <a:t>0.85</a:t>
                      </a:r>
                    </a:p>
                  </a:txBody>
                  <a:tcPr marT="19050" marB="19050" marR="28575" marL="28575" anchor="b"/>
                </a:tc>
              </a:tr>
              <a:tr h="1012700">
                <a:tc>
                  <a:txBody>
                    <a:bodyPr>
                      <a:noAutofit/>
                    </a:bodyPr>
                    <a:lstStyle/>
                    <a:p>
                      <a:pPr lvl="0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sz="1800"/>
                        <a:t>Decoded by a malicious node</a:t>
                      </a:r>
                    </a:p>
                  </a:txBody>
                  <a:tcPr marT="19050" marB="19050" marR="28575" marL="28575" anchor="b"/>
                </a:tc>
                <a:tc>
                  <a:txBody>
                    <a:bodyPr>
                      <a:noAutofit/>
                    </a:bodyPr>
                    <a:lstStyle/>
                    <a:p>
                      <a:pPr lv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sz="1800"/>
                        <a:t>0/6</a:t>
                      </a:r>
                    </a:p>
                  </a:txBody>
                  <a:tcPr marT="19050" marB="19050" marR="28575" marL="28575" anchor="b"/>
                </a:tc>
                <a:tc>
                  <a:txBody>
                    <a:bodyPr>
                      <a:noAutofit/>
                    </a:bodyPr>
                    <a:lstStyle/>
                    <a:p>
                      <a:pPr lv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sz="1800"/>
                        <a:t>5/8</a:t>
                      </a:r>
                    </a:p>
                  </a:txBody>
                  <a:tcPr marT="19050" marB="19050" marR="28575" marL="28575" anchor="b"/>
                </a:tc>
                <a:tc>
                  <a:txBody>
                    <a:bodyPr>
                      <a:noAutofit/>
                    </a:bodyPr>
                    <a:lstStyle/>
                    <a:p>
                      <a:pPr lv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sz="1800"/>
                        <a:t>5/8</a:t>
                      </a:r>
                    </a:p>
                  </a:txBody>
                  <a:tcPr marT="19050" marB="19050" marR="28575" marL="28575" anchor="b"/>
                </a:tc>
                <a:tc>
                  <a:txBody>
                    <a:bodyPr>
                      <a:noAutofit/>
                    </a:bodyPr>
                    <a:lstStyle/>
                    <a:p>
                      <a:pPr lv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sz="1800"/>
                        <a:t>2/3</a:t>
                      </a:r>
                    </a:p>
                  </a:txBody>
                  <a:tcPr marT="19050" marB="19050" marR="28575" marL="28575" anchor="b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hape 203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zh-CN"/>
              <a:t>Delay VS Msg Decode</a:t>
            </a:r>
          </a:p>
        </p:txBody>
      </p:sp>
      <p:graphicFrame>
        <p:nvGraphicFramePr>
          <p:cNvPr id="204" name="Shape 204"/>
          <p:cNvGraphicFramePr/>
          <p:nvPr/>
        </p:nvGraphicFramePr>
        <p:xfrm>
          <a:off x="952475" y="2000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{2DF012CE-5F57-41F2-843E-A3DA5A3B7A30}</a:tableStyleId>
              </a:tblPr>
              <a:tblGrid>
                <a:gridCol w="1636375"/>
                <a:gridCol w="1636375"/>
                <a:gridCol w="1636375"/>
                <a:gridCol w="1636375"/>
              </a:tblGrid>
              <a:tr h="548650">
                <a:tc>
                  <a:txBody>
                    <a:bodyPr>
                      <a:noAutofit/>
                    </a:bodyPr>
                    <a:lstStyle/>
                    <a:p>
                      <a:pPr lvl="0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sz="1800"/>
                        <a:t>delay(s)</a:t>
                      </a:r>
                    </a:p>
                  </a:txBody>
                  <a:tcPr marT="19050" marB="19050" marR="28575" marL="28575" anchor="b"/>
                </a:tc>
                <a:tc>
                  <a:txBody>
                    <a:bodyPr>
                      <a:noAutofit/>
                    </a:bodyPr>
                    <a:lstStyle/>
                    <a:p>
                      <a:pPr lv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sz="1800"/>
                        <a:t>1</a:t>
                      </a:r>
                    </a:p>
                  </a:txBody>
                  <a:tcPr marT="19050" marB="19050" marR="28575" marL="28575" anchor="b"/>
                </a:tc>
                <a:tc>
                  <a:txBody>
                    <a:bodyPr>
                      <a:noAutofit/>
                    </a:bodyPr>
                    <a:lstStyle/>
                    <a:p>
                      <a:pPr lv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sz="1800"/>
                        <a:t>3</a:t>
                      </a:r>
                    </a:p>
                  </a:txBody>
                  <a:tcPr marT="19050" marB="19050" marR="28575" marL="28575" anchor="b"/>
                </a:tc>
                <a:tc>
                  <a:txBody>
                    <a:bodyPr>
                      <a:noAutofit/>
                    </a:bodyPr>
                    <a:lstStyle/>
                    <a:p>
                      <a:pPr lv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sz="1800"/>
                        <a:t>5</a:t>
                      </a:r>
                    </a:p>
                  </a:txBody>
                  <a:tcPr marT="19050" marB="19050" marR="28575" marL="28575" anchor="b"/>
                </a:tc>
              </a:tr>
              <a:tr h="548650">
                <a:tc>
                  <a:txBody>
                    <a:bodyPr>
                      <a:noAutofit/>
                    </a:bodyPr>
                    <a:lstStyle/>
                    <a:p>
                      <a:pPr lvl="0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sz="1800"/>
                        <a:t>Avg msg delay(ms)</a:t>
                      </a:r>
                    </a:p>
                  </a:txBody>
                  <a:tcPr marT="19050" marB="19050" marR="28575" marL="28575" anchor="b"/>
                </a:tc>
                <a:tc>
                  <a:txBody>
                    <a:bodyPr>
                      <a:noAutofit/>
                    </a:bodyPr>
                    <a:lstStyle/>
                    <a:p>
                      <a:pPr lv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sz="1800"/>
                        <a:t>589</a:t>
                      </a:r>
                    </a:p>
                  </a:txBody>
                  <a:tcPr marT="19050" marB="19050" marR="28575" marL="28575" anchor="b"/>
                </a:tc>
                <a:tc>
                  <a:txBody>
                    <a:bodyPr>
                      <a:noAutofit/>
                    </a:bodyPr>
                    <a:lstStyle/>
                    <a:p>
                      <a:pPr lv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sz="1800"/>
                        <a:t>2115</a:t>
                      </a:r>
                    </a:p>
                  </a:txBody>
                  <a:tcPr marT="19050" marB="19050" marR="28575" marL="28575" anchor="b"/>
                </a:tc>
                <a:tc>
                  <a:txBody>
                    <a:bodyPr>
                      <a:noAutofit/>
                    </a:bodyPr>
                    <a:lstStyle/>
                    <a:p>
                      <a:pPr lv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sz="1800"/>
                        <a:t>4846</a:t>
                      </a:r>
                    </a:p>
                  </a:txBody>
                  <a:tcPr marT="19050" marB="19050" marR="28575" marL="28575" anchor="b"/>
                </a:tc>
              </a:tr>
              <a:tr h="795525">
                <a:tc>
                  <a:txBody>
                    <a:bodyPr>
                      <a:noAutofit/>
                    </a:bodyPr>
                    <a:lstStyle/>
                    <a:p>
                      <a:pPr lvl="0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sz="1800"/>
                        <a:t>Messages decoded by a malicious node</a:t>
                      </a:r>
                    </a:p>
                  </a:txBody>
                  <a:tcPr marT="19050" marB="19050" marR="28575" marL="28575" anchor="b"/>
                </a:tc>
                <a:tc>
                  <a:txBody>
                    <a:bodyPr>
                      <a:noAutofit/>
                    </a:bodyPr>
                    <a:lstStyle/>
                    <a:p>
                      <a:pPr lv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sz="1800"/>
                        <a:t>15/27</a:t>
                      </a:r>
                    </a:p>
                  </a:txBody>
                  <a:tcPr marT="19050" marB="19050" marR="28575" marL="28575" anchor="b"/>
                </a:tc>
                <a:tc>
                  <a:txBody>
                    <a:bodyPr>
                      <a:noAutofit/>
                    </a:bodyPr>
                    <a:lstStyle/>
                    <a:p>
                      <a:pPr lv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sz="1800"/>
                        <a:t>4/8</a:t>
                      </a:r>
                    </a:p>
                  </a:txBody>
                  <a:tcPr marT="19050" marB="19050" marR="28575" marL="28575" anchor="b"/>
                </a:tc>
                <a:tc>
                  <a:txBody>
                    <a:bodyPr>
                      <a:noAutofit/>
                    </a:bodyPr>
                    <a:lstStyle/>
                    <a:p>
                      <a:pPr lv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sz="1800"/>
                        <a:t>0/2</a:t>
                      </a:r>
                    </a:p>
                  </a:txBody>
                  <a:tcPr marT="19050" marB="19050" marR="28575" marL="28575" anchor="b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hape 209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zh-CN">
                <a:solidFill>
                  <a:srgbClr val="000000"/>
                </a:solidFill>
              </a:rPr>
              <a:t>what’s more we can do to improve the model?</a:t>
            </a:r>
          </a:p>
        </p:txBody>
      </p:sp>
      <p:sp>
        <p:nvSpPr>
          <p:cNvPr id="210" name="Shape 210"/>
          <p:cNvSpPr txBox="1"/>
          <p:nvPr>
            <p:ph idx="1" type="body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228600" lvl="0" marL="457200" rtl="0">
              <a:spcBef>
                <a:spcPts val="0"/>
              </a:spcBef>
            </a:pPr>
            <a:r>
              <a:rPr lang="zh-CN"/>
              <a:t>Some good combination of parameters?</a:t>
            </a:r>
          </a:p>
          <a:p>
            <a:pPr indent="-228600" lvl="0" marL="457200" rtl="0">
              <a:spcBef>
                <a:spcPts val="0"/>
              </a:spcBef>
            </a:pPr>
            <a:r>
              <a:rPr lang="zh-CN"/>
              <a:t>Avoid malicious node spam on our protocol</a:t>
            </a:r>
          </a:p>
          <a:p>
            <a:pPr indent="-228600" lvl="0" marL="457200" rtl="0">
              <a:spcBef>
                <a:spcPts val="0"/>
              </a:spcBef>
            </a:pPr>
            <a:r>
              <a:rPr lang="zh-CN"/>
              <a:t>Perhaps a new protocol that maintains routes rather than simply mass distribution</a:t>
            </a:r>
          </a:p>
          <a:p>
            <a:pPr indent="-228600" lvl="1" marL="914400" rtl="0">
              <a:spcBef>
                <a:spcPts val="0"/>
              </a:spcBef>
            </a:pPr>
            <a:r>
              <a:rPr lang="zh-CN"/>
              <a:t>Maintain onion route using ANODR, but using neighbor overhearing to authenticate message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 215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zh-CN"/>
              <a:t>Reference</a:t>
            </a:r>
          </a:p>
        </p:txBody>
      </p:sp>
      <p:sp>
        <p:nvSpPr>
          <p:cNvPr id="216" name="Shape 216"/>
          <p:cNvSpPr txBox="1"/>
          <p:nvPr>
            <p:ph idx="1" type="body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CN"/>
              <a:t>[1] </a:t>
            </a:r>
            <a:r>
              <a:rPr lang="zh-CN">
                <a:solidFill>
                  <a:srgbClr val="222222"/>
                </a:solidFill>
                <a:highlight>
                  <a:srgbClr val="FFFFFF"/>
                </a:highlight>
              </a:rPr>
              <a:t>Lu, You, et al. "Social-tie based content retrieval for delay-tolerant mobile ad-hoc networks." </a:t>
            </a:r>
            <a:r>
              <a:rPr i="1" lang="zh-CN">
                <a:solidFill>
                  <a:srgbClr val="222222"/>
                </a:solidFill>
                <a:highlight>
                  <a:srgbClr val="FFFFFF"/>
                </a:highlight>
              </a:rPr>
              <a:t>Proceedings of the 8th ACM MobiCom workshop on Challenged networks</a:t>
            </a:r>
            <a:r>
              <a:rPr lang="zh-CN">
                <a:solidFill>
                  <a:srgbClr val="222222"/>
                </a:solidFill>
                <a:highlight>
                  <a:srgbClr val="FFFFFF"/>
                </a:highlight>
              </a:rPr>
              <a:t>. ACM, 2013.</a:t>
            </a:r>
          </a:p>
          <a:p>
            <a:pPr lvl="0" rtl="0">
              <a:spcBef>
                <a:spcPts val="0"/>
              </a:spcBef>
              <a:buNone/>
            </a:pPr>
            <a:r>
              <a:rPr lang="zh-CN">
                <a:solidFill>
                  <a:srgbClr val="222222"/>
                </a:solidFill>
                <a:highlight>
                  <a:srgbClr val="FFFFFF"/>
                </a:highlight>
              </a:rPr>
              <a:t>[2] Kong, Jiejun, and Xiaoyan Hong. "ANODR: anonymous on demand routing with untraceable routes for mobile ad-hoc networks." </a:t>
            </a:r>
            <a:r>
              <a:rPr i="1" lang="zh-CN">
                <a:solidFill>
                  <a:srgbClr val="222222"/>
                </a:solidFill>
                <a:highlight>
                  <a:srgbClr val="FFFFFF"/>
                </a:highlight>
              </a:rPr>
              <a:t>Proceedings of the 4th ACM international symposium on Mobile ad hoc networking &amp; computing</a:t>
            </a:r>
            <a:r>
              <a:rPr lang="zh-CN">
                <a:solidFill>
                  <a:srgbClr val="222222"/>
                </a:solidFill>
                <a:highlight>
                  <a:srgbClr val="FFFFFF"/>
                </a:highlight>
              </a:rPr>
              <a:t>. ACM, 2003.</a:t>
            </a:r>
          </a:p>
          <a:p>
            <a:pPr lvl="0" rtl="0">
              <a:spcBef>
                <a:spcPts val="0"/>
              </a:spcBef>
              <a:buNone/>
            </a:pPr>
            <a:r>
              <a:rPr lang="zh-CN">
                <a:solidFill>
                  <a:srgbClr val="222222"/>
                </a:solidFill>
                <a:highlight>
                  <a:srgbClr val="FFFFFF"/>
                </a:highlight>
              </a:rPr>
              <a:t>[3] Zhu, Bo, et al. "Anonymous secure routing in mobile ad-hoc networks." </a:t>
            </a:r>
            <a:r>
              <a:rPr i="1" lang="zh-CN">
                <a:solidFill>
                  <a:srgbClr val="222222"/>
                </a:solidFill>
                <a:highlight>
                  <a:srgbClr val="FFFFFF"/>
                </a:highlight>
              </a:rPr>
              <a:t>Local Computer Networks, 2004. 29th Annual IEEE International Conference on</a:t>
            </a:r>
            <a:r>
              <a:rPr lang="zh-CN">
                <a:solidFill>
                  <a:srgbClr val="222222"/>
                </a:solidFill>
                <a:highlight>
                  <a:srgbClr val="FFFFFF"/>
                </a:highlight>
              </a:rPr>
              <a:t>. IEEE, 2004.</a:t>
            </a: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lvl="0">
              <a:spcBef>
                <a:spcPts val="0"/>
              </a:spcBef>
              <a:buNone/>
            </a:pPr>
            <a:r>
              <a:t/>
            </a:r>
            <a:endParaRPr>
              <a:solidFill>
                <a:srgbClr val="222222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Shape 221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zh-CN"/>
              <a:t>Reference</a:t>
            </a:r>
          </a:p>
        </p:txBody>
      </p:sp>
      <p:sp>
        <p:nvSpPr>
          <p:cNvPr id="222" name="Shape 222"/>
          <p:cNvSpPr txBox="1"/>
          <p:nvPr>
            <p:ph idx="1" type="body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CN"/>
              <a:t>[4] </a:t>
            </a:r>
            <a:r>
              <a:rPr lang="zh-CN">
                <a:solidFill>
                  <a:srgbClr val="232323"/>
                </a:solidFill>
              </a:rPr>
              <a:t>Lu, Y., Li, X., Yu, Y. T., &amp; Gerla, M. (2014, April). Information-centric delay-tolerant mobile ad-hoc networks. In </a:t>
            </a:r>
            <a:r>
              <a:rPr i="1" lang="zh-CN">
                <a:solidFill>
                  <a:srgbClr val="232323"/>
                </a:solidFill>
              </a:rPr>
              <a:t>Computer Communications Workshops (INFOCOM WKSHPS), 2014 IEEE Conference on</a:t>
            </a:r>
            <a:r>
              <a:rPr lang="zh-CN">
                <a:solidFill>
                  <a:srgbClr val="232323"/>
                </a:solidFill>
              </a:rPr>
              <a:t> (pp. 428-433). IEEE.</a:t>
            </a:r>
          </a:p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-light-2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